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Poppins Ultra-Bold" charset="1" panose="00000900000000000000"/>
      <p:regular r:id="rId45"/>
    </p:embeddedFont>
    <p:embeddedFont>
      <p:font typeface="Poppins" charset="1" panose="00000500000000000000"/>
      <p:regular r:id="rId46"/>
    </p:embeddedFont>
    <p:embeddedFont>
      <p:font typeface="Poppins Bold" charset="1" panose="00000800000000000000"/>
      <p:regular r:id="rId47"/>
    </p:embeddedFont>
    <p:embeddedFont>
      <p:font typeface="Open Sans" charset="1" panose="00000000000000000000"/>
      <p:regular r:id="rId48"/>
    </p:embeddedFont>
    <p:embeddedFont>
      <p:font typeface="Montserrat Bold" charset="1" panose="00000800000000000000"/>
      <p:regular r:id="rId49"/>
    </p:embeddedFont>
    <p:embeddedFont>
      <p:font typeface="Montserrat" charset="1" panose="00000500000000000000"/>
      <p:regular r:id="rId50"/>
    </p:embeddedFont>
    <p:embeddedFont>
      <p:font typeface="Poppins Semi-Bold" charset="1" panose="000007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8.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0.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1.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2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8.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9.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0.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1.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2.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3.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4.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5.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36.jpe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1.jpeg" Type="http://schemas.openxmlformats.org/officeDocument/2006/relationships/image"/><Relationship Id="rId15" Target="../media/image42.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3.jpeg" Type="http://schemas.openxmlformats.org/officeDocument/2006/relationships/image"/><Relationship Id="rId15" Target="../media/image44.jpeg" Type="http://schemas.openxmlformats.org/officeDocument/2006/relationships/image"/><Relationship Id="rId16" Target="../media/image45.jpeg" Type="http://schemas.openxmlformats.org/officeDocument/2006/relationships/image"/><Relationship Id="rId17" Target="../media/image46.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7.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8.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9.jpe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4683" y="-3228130"/>
            <a:ext cx="11040159" cy="1104015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59939" y="8944835"/>
            <a:ext cx="2684329" cy="2684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4039902" y="759289"/>
            <a:ext cx="3219398" cy="582813"/>
            <a:chOff x="0" y="0"/>
            <a:chExt cx="2244911" cy="406400"/>
          </a:xfrm>
        </p:grpSpPr>
        <p:sp>
          <p:nvSpPr>
            <p:cNvPr name="Freeform 9" id="9"/>
            <p:cNvSpPr/>
            <p:nvPr/>
          </p:nvSpPr>
          <p:spPr>
            <a:xfrm flipH="false" flipV="false" rot="0">
              <a:off x="0" y="0"/>
              <a:ext cx="2244911" cy="406400"/>
            </a:xfrm>
            <a:custGeom>
              <a:avLst/>
              <a:gdLst/>
              <a:ahLst/>
              <a:cxnLst/>
              <a:rect r="r" b="b" t="t" l="l"/>
              <a:pathLst>
                <a:path h="406400" w="2244911">
                  <a:moveTo>
                    <a:pt x="2041711" y="0"/>
                  </a:moveTo>
                  <a:cubicBezTo>
                    <a:pt x="2153935" y="0"/>
                    <a:pt x="2244911" y="90976"/>
                    <a:pt x="2244911" y="203200"/>
                  </a:cubicBezTo>
                  <a:cubicBezTo>
                    <a:pt x="2244911" y="315424"/>
                    <a:pt x="2153935" y="406400"/>
                    <a:pt x="2041711" y="406400"/>
                  </a:cubicBezTo>
                  <a:lnTo>
                    <a:pt x="203200" y="406400"/>
                  </a:lnTo>
                  <a:cubicBezTo>
                    <a:pt x="90976" y="406400"/>
                    <a:pt x="0" y="315424"/>
                    <a:pt x="0" y="203200"/>
                  </a:cubicBezTo>
                  <a:cubicBezTo>
                    <a:pt x="0" y="90976"/>
                    <a:pt x="90976" y="0"/>
                    <a:pt x="203200" y="0"/>
                  </a:cubicBezTo>
                  <a:close/>
                </a:path>
              </a:pathLst>
            </a:custGeom>
            <a:solidFill>
              <a:srgbClr val="FFB552"/>
            </a:solidFill>
            <a:ln cap="sq">
              <a:noFill/>
              <a:prstDash val="solid"/>
              <a:miter/>
            </a:ln>
          </p:spPr>
        </p:sp>
        <p:sp>
          <p:nvSpPr>
            <p:cNvPr name="TextBox 10" id="10"/>
            <p:cNvSpPr txBox="true"/>
            <p:nvPr/>
          </p:nvSpPr>
          <p:spPr>
            <a:xfrm>
              <a:off x="0" y="-57150"/>
              <a:ext cx="2244911" cy="463550"/>
            </a:xfrm>
            <a:prstGeom prst="rect">
              <a:avLst/>
            </a:prstGeom>
          </p:spPr>
          <p:txBody>
            <a:bodyPr anchor="ctr" rtlCol="false" tIns="50800" lIns="50800" bIns="50800" rIns="50800"/>
            <a:lstStyle/>
            <a:p>
              <a:pPr algn="ctr">
                <a:lnSpc>
                  <a:spcPts val="3220"/>
                </a:lnSpc>
              </a:pPr>
            </a:p>
          </p:txBody>
        </p:sp>
      </p:grpSp>
      <p:grpSp>
        <p:nvGrpSpPr>
          <p:cNvPr name="Group 11" id="11"/>
          <p:cNvGrpSpPr/>
          <p:nvPr/>
        </p:nvGrpSpPr>
        <p:grpSpPr>
          <a:xfrm rot="0">
            <a:off x="1700103" y="6958725"/>
            <a:ext cx="6952244" cy="905428"/>
            <a:chOff x="0" y="0"/>
            <a:chExt cx="3120506" cy="406400"/>
          </a:xfrm>
        </p:grpSpPr>
        <p:sp>
          <p:nvSpPr>
            <p:cNvPr name="Freeform 12" id="12"/>
            <p:cNvSpPr/>
            <p:nvPr/>
          </p:nvSpPr>
          <p:spPr>
            <a:xfrm flipH="false" flipV="false" rot="0">
              <a:off x="0" y="0"/>
              <a:ext cx="3120506" cy="406400"/>
            </a:xfrm>
            <a:custGeom>
              <a:avLst/>
              <a:gdLst/>
              <a:ahLst/>
              <a:cxnLst/>
              <a:rect r="r" b="b" t="t" l="l"/>
              <a:pathLst>
                <a:path h="406400" w="3120506">
                  <a:moveTo>
                    <a:pt x="2917306" y="0"/>
                  </a:moveTo>
                  <a:cubicBezTo>
                    <a:pt x="3029530" y="0"/>
                    <a:pt x="3120506" y="90976"/>
                    <a:pt x="3120506" y="203200"/>
                  </a:cubicBezTo>
                  <a:cubicBezTo>
                    <a:pt x="3120506" y="315424"/>
                    <a:pt x="3029530" y="406400"/>
                    <a:pt x="2917306" y="406400"/>
                  </a:cubicBezTo>
                  <a:lnTo>
                    <a:pt x="203200" y="406400"/>
                  </a:lnTo>
                  <a:cubicBezTo>
                    <a:pt x="90976" y="406400"/>
                    <a:pt x="0" y="315424"/>
                    <a:pt x="0" y="203200"/>
                  </a:cubicBezTo>
                  <a:cubicBezTo>
                    <a:pt x="0" y="90976"/>
                    <a:pt x="90976" y="0"/>
                    <a:pt x="203200" y="0"/>
                  </a:cubicBezTo>
                  <a:close/>
                </a:path>
              </a:pathLst>
            </a:custGeom>
            <a:solidFill>
              <a:srgbClr val="FFB552"/>
            </a:solidFill>
            <a:ln cap="sq">
              <a:noFill/>
              <a:prstDash val="solid"/>
              <a:miter/>
            </a:ln>
          </p:spPr>
        </p:sp>
        <p:sp>
          <p:nvSpPr>
            <p:cNvPr name="TextBox 13" id="13"/>
            <p:cNvSpPr txBox="true"/>
            <p:nvPr/>
          </p:nvSpPr>
          <p:spPr>
            <a:xfrm>
              <a:off x="0" y="-57150"/>
              <a:ext cx="3120506" cy="463550"/>
            </a:xfrm>
            <a:prstGeom prst="rect">
              <a:avLst/>
            </a:prstGeom>
          </p:spPr>
          <p:txBody>
            <a:bodyPr anchor="ctr" rtlCol="false" tIns="50800" lIns="50800" bIns="50800" rIns="50800"/>
            <a:lstStyle/>
            <a:p>
              <a:pPr algn="ctr">
                <a:lnSpc>
                  <a:spcPts val="3220"/>
                </a:lnSpc>
              </a:pPr>
            </a:p>
          </p:txBody>
        </p:sp>
      </p:grpSp>
      <p:sp>
        <p:nvSpPr>
          <p:cNvPr name="Freeform 14" id="14"/>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15283840" y="3098543"/>
            <a:ext cx="1218471" cy="1418890"/>
          </a:xfrm>
          <a:custGeom>
            <a:avLst/>
            <a:gdLst/>
            <a:ahLst/>
            <a:cxnLst/>
            <a:rect r="r" b="b" t="t" l="l"/>
            <a:pathLst>
              <a:path h="1418890" w="1218471">
                <a:moveTo>
                  <a:pt x="0" y="0"/>
                </a:moveTo>
                <a:lnTo>
                  <a:pt x="1218471" y="0"/>
                </a:lnTo>
                <a:lnTo>
                  <a:pt x="1218471" y="1418890"/>
                </a:lnTo>
                <a:lnTo>
                  <a:pt x="0" y="1418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5400000">
            <a:off x="-592325" y="8404494"/>
            <a:ext cx="2161366" cy="1080683"/>
          </a:xfrm>
          <a:custGeom>
            <a:avLst/>
            <a:gdLst/>
            <a:ahLst/>
            <a:cxnLst/>
            <a:rect r="r" b="b" t="t" l="l"/>
            <a:pathLst>
              <a:path h="1080683" w="2161366">
                <a:moveTo>
                  <a:pt x="2161367" y="1080683"/>
                </a:moveTo>
                <a:lnTo>
                  <a:pt x="0" y="1080683"/>
                </a:lnTo>
                <a:lnTo>
                  <a:pt x="0" y="0"/>
                </a:lnTo>
                <a:lnTo>
                  <a:pt x="2161367" y="0"/>
                </a:lnTo>
                <a:lnTo>
                  <a:pt x="2161367" y="108068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5400000">
            <a:off x="2148084" y="2028404"/>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028700" y="3392159"/>
            <a:ext cx="10042458" cy="2871550"/>
          </a:xfrm>
          <a:prstGeom prst="rect">
            <a:avLst/>
          </a:prstGeom>
        </p:spPr>
        <p:txBody>
          <a:bodyPr anchor="t" rtlCol="false" tIns="0" lIns="0" bIns="0" rIns="0">
            <a:spAutoFit/>
          </a:bodyPr>
          <a:lstStyle/>
          <a:p>
            <a:pPr algn="l">
              <a:lnSpc>
                <a:spcPts val="7286"/>
              </a:lnSpc>
            </a:pPr>
            <a:r>
              <a:rPr lang="en-US" sz="7213" b="true">
                <a:solidFill>
                  <a:srgbClr val="000000"/>
                </a:solidFill>
                <a:latin typeface="Poppins Ultra-Bold"/>
                <a:ea typeface="Poppins Ultra-Bold"/>
                <a:cs typeface="Poppins Ultra-Bold"/>
                <a:sym typeface="Poppins Ultra-Bold"/>
              </a:rPr>
              <a:t>ANALISIS DAN </a:t>
            </a:r>
          </a:p>
          <a:p>
            <a:pPr algn="l">
              <a:lnSpc>
                <a:spcPts val="7286"/>
              </a:lnSpc>
            </a:pPr>
            <a:r>
              <a:rPr lang="en-US" b="true" sz="7213">
                <a:solidFill>
                  <a:srgbClr val="000000"/>
                </a:solidFill>
                <a:latin typeface="Poppins Ultra-Bold"/>
                <a:ea typeface="Poppins Ultra-Bold"/>
                <a:cs typeface="Poppins Ultra-Bold"/>
                <a:sym typeface="Poppins Ultra-Bold"/>
              </a:rPr>
              <a:t>PERANCANGAN SISTEM</a:t>
            </a:r>
          </a:p>
        </p:txBody>
      </p:sp>
      <p:sp>
        <p:nvSpPr>
          <p:cNvPr name="TextBox 19" id="19"/>
          <p:cNvSpPr txBox="true"/>
          <p:nvPr/>
        </p:nvSpPr>
        <p:spPr>
          <a:xfrm rot="0">
            <a:off x="1700103" y="7147963"/>
            <a:ext cx="6952244" cy="450850"/>
          </a:xfrm>
          <a:prstGeom prst="rect">
            <a:avLst/>
          </a:prstGeom>
        </p:spPr>
        <p:txBody>
          <a:bodyPr anchor="t" rtlCol="false" tIns="0" lIns="0" bIns="0" rIns="0">
            <a:spAutoFit/>
          </a:bodyPr>
          <a:lstStyle/>
          <a:p>
            <a:pPr algn="ctr">
              <a:lnSpc>
                <a:spcPts val="3500"/>
              </a:lnSpc>
            </a:pPr>
            <a:r>
              <a:rPr lang="en-US" sz="2500">
                <a:solidFill>
                  <a:srgbClr val="000000"/>
                </a:solidFill>
                <a:latin typeface="Poppins"/>
                <a:ea typeface="Poppins"/>
                <a:cs typeface="Poppins"/>
                <a:sym typeface="Poppins"/>
              </a:rPr>
              <a:t>Disusun Oleh Kelompok 5 (Lima)</a:t>
            </a:r>
          </a:p>
        </p:txBody>
      </p:sp>
      <p:grpSp>
        <p:nvGrpSpPr>
          <p:cNvPr name="Group 20" id="20"/>
          <p:cNvGrpSpPr>
            <a:grpSpLocks noChangeAspect="true"/>
          </p:cNvGrpSpPr>
          <p:nvPr/>
        </p:nvGrpSpPr>
        <p:grpSpPr>
          <a:xfrm rot="0">
            <a:off x="11737908" y="305816"/>
            <a:ext cx="5755971" cy="8222816"/>
            <a:chOff x="0" y="0"/>
            <a:chExt cx="4445000" cy="6350000"/>
          </a:xfrm>
        </p:grpSpPr>
        <p:sp>
          <p:nvSpPr>
            <p:cNvPr name="Freeform 21" id="21"/>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0"/>
              <a:stretch>
                <a:fillRect l="-2435" t="0" r="0" b="-5588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5197780"/>
            <a:ext cx="18288000" cy="182880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false" flipV="false" rot="-5400000">
            <a:off x="9023587" y="299551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6713120" y="9258300"/>
            <a:ext cx="546180" cy="5461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9" id="9"/>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0" id="10"/>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16722537" y="-242390"/>
            <a:ext cx="3130925" cy="1565463"/>
          </a:xfrm>
          <a:custGeom>
            <a:avLst/>
            <a:gdLst/>
            <a:ahLst/>
            <a:cxnLst/>
            <a:rect r="r" b="b" t="t" l="l"/>
            <a:pathLst>
              <a:path h="1565463" w="3130925">
                <a:moveTo>
                  <a:pt x="3130926" y="0"/>
                </a:moveTo>
                <a:lnTo>
                  <a:pt x="0" y="0"/>
                </a:lnTo>
                <a:lnTo>
                  <a:pt x="0" y="1565463"/>
                </a:lnTo>
                <a:lnTo>
                  <a:pt x="3130926" y="1565463"/>
                </a:lnTo>
                <a:lnTo>
                  <a:pt x="313092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650064" y="440132"/>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3514264" y="2275465"/>
            <a:ext cx="11259471" cy="831850"/>
          </a:xfrm>
          <a:prstGeom prst="rect">
            <a:avLst/>
          </a:prstGeom>
        </p:spPr>
        <p:txBody>
          <a:bodyPr anchor="t" rtlCol="false" tIns="0" lIns="0" bIns="0" rIns="0">
            <a:spAutoFit/>
          </a:bodyPr>
          <a:lstStyle/>
          <a:p>
            <a:pPr algn="ctr">
              <a:lnSpc>
                <a:spcPts val="6049"/>
              </a:lnSpc>
            </a:pPr>
            <a:r>
              <a:rPr lang="en-US" b="true" sz="5499">
                <a:solidFill>
                  <a:srgbClr val="000000"/>
                </a:solidFill>
                <a:latin typeface="Poppins Bold"/>
                <a:ea typeface="Poppins Bold"/>
                <a:cs typeface="Poppins Bold"/>
                <a:sym typeface="Poppins Bold"/>
              </a:rPr>
              <a:t>ANGGOTA KELOMPOK</a:t>
            </a:r>
          </a:p>
        </p:txBody>
      </p:sp>
      <p:sp>
        <p:nvSpPr>
          <p:cNvPr name="TextBox 14" id="14"/>
          <p:cNvSpPr txBox="true"/>
          <p:nvPr/>
        </p:nvSpPr>
        <p:spPr>
          <a:xfrm rot="0">
            <a:off x="2946306" y="7618510"/>
            <a:ext cx="3700281" cy="438150"/>
          </a:xfrm>
          <a:prstGeom prst="rect">
            <a:avLst/>
          </a:prstGeom>
        </p:spPr>
        <p:txBody>
          <a:bodyPr anchor="t" rtlCol="false" tIns="0" lIns="0" bIns="0" rIns="0">
            <a:spAutoFit/>
          </a:bodyPr>
          <a:lstStyle/>
          <a:p>
            <a:pPr algn="ctr">
              <a:lnSpc>
                <a:spcPts val="3449"/>
              </a:lnSpc>
            </a:pPr>
            <a:r>
              <a:rPr lang="en-US" sz="2499" b="true">
                <a:solidFill>
                  <a:srgbClr val="FFFFFF"/>
                </a:solidFill>
                <a:latin typeface="Poppins Bold"/>
                <a:ea typeface="Poppins Bold"/>
                <a:cs typeface="Poppins Bold"/>
                <a:sym typeface="Poppins Bold"/>
              </a:rPr>
              <a:t>Asep Ramdani </a:t>
            </a:r>
          </a:p>
        </p:txBody>
      </p:sp>
      <p:sp>
        <p:nvSpPr>
          <p:cNvPr name="TextBox 15" id="15"/>
          <p:cNvSpPr txBox="true"/>
          <p:nvPr/>
        </p:nvSpPr>
        <p:spPr>
          <a:xfrm rot="0">
            <a:off x="7293860" y="7618510"/>
            <a:ext cx="3700281" cy="438150"/>
          </a:xfrm>
          <a:prstGeom prst="rect">
            <a:avLst/>
          </a:prstGeom>
        </p:spPr>
        <p:txBody>
          <a:bodyPr anchor="t" rtlCol="false" tIns="0" lIns="0" bIns="0" rIns="0">
            <a:spAutoFit/>
          </a:bodyPr>
          <a:lstStyle/>
          <a:p>
            <a:pPr algn="ctr">
              <a:lnSpc>
                <a:spcPts val="3449"/>
              </a:lnSpc>
            </a:pPr>
            <a:r>
              <a:rPr lang="en-US" sz="2499" b="true">
                <a:solidFill>
                  <a:srgbClr val="FFFFFF"/>
                </a:solidFill>
                <a:latin typeface="Poppins Bold"/>
                <a:ea typeface="Poppins Bold"/>
                <a:cs typeface="Poppins Bold"/>
                <a:sym typeface="Poppins Bold"/>
              </a:rPr>
              <a:t>Saefi Hilman</a:t>
            </a:r>
          </a:p>
        </p:txBody>
      </p:sp>
      <p:sp>
        <p:nvSpPr>
          <p:cNvPr name="TextBox 16" id="16"/>
          <p:cNvSpPr txBox="true"/>
          <p:nvPr/>
        </p:nvSpPr>
        <p:spPr>
          <a:xfrm rot="0">
            <a:off x="3432026" y="8129122"/>
            <a:ext cx="2728840" cy="371474"/>
          </a:xfrm>
          <a:prstGeom prst="rect">
            <a:avLst/>
          </a:prstGeom>
        </p:spPr>
        <p:txBody>
          <a:bodyPr anchor="t" rtlCol="false" tIns="0" lIns="0" bIns="0" rIns="0">
            <a:spAutoFit/>
          </a:bodyPr>
          <a:lstStyle/>
          <a:p>
            <a:pPr algn="ctr">
              <a:lnSpc>
                <a:spcPts val="3000"/>
              </a:lnSpc>
            </a:pPr>
            <a:r>
              <a:rPr lang="en-US" sz="2000">
                <a:solidFill>
                  <a:srgbClr val="FFFFFF"/>
                </a:solidFill>
                <a:latin typeface="Open Sans"/>
                <a:ea typeface="Open Sans"/>
                <a:cs typeface="Open Sans"/>
                <a:sym typeface="Open Sans"/>
              </a:rPr>
              <a:t>20240050085</a:t>
            </a:r>
          </a:p>
        </p:txBody>
      </p:sp>
      <p:sp>
        <p:nvSpPr>
          <p:cNvPr name="TextBox 17" id="17"/>
          <p:cNvSpPr txBox="true"/>
          <p:nvPr/>
        </p:nvSpPr>
        <p:spPr>
          <a:xfrm rot="0">
            <a:off x="7779580" y="8129122"/>
            <a:ext cx="2728840" cy="371474"/>
          </a:xfrm>
          <a:prstGeom prst="rect">
            <a:avLst/>
          </a:prstGeom>
        </p:spPr>
        <p:txBody>
          <a:bodyPr anchor="t" rtlCol="false" tIns="0" lIns="0" bIns="0" rIns="0">
            <a:spAutoFit/>
          </a:bodyPr>
          <a:lstStyle/>
          <a:p>
            <a:pPr algn="ctr">
              <a:lnSpc>
                <a:spcPts val="3000"/>
              </a:lnSpc>
            </a:pPr>
            <a:r>
              <a:rPr lang="en-US" sz="2000">
                <a:solidFill>
                  <a:srgbClr val="FFFFFF"/>
                </a:solidFill>
                <a:latin typeface="Open Sans"/>
                <a:ea typeface="Open Sans"/>
                <a:cs typeface="Open Sans"/>
                <a:sym typeface="Open Sans"/>
              </a:rPr>
              <a:t>20240050059</a:t>
            </a:r>
          </a:p>
        </p:txBody>
      </p:sp>
      <p:sp>
        <p:nvSpPr>
          <p:cNvPr name="TextBox 18" id="18"/>
          <p:cNvSpPr txBox="true"/>
          <p:nvPr/>
        </p:nvSpPr>
        <p:spPr>
          <a:xfrm rot="0">
            <a:off x="11641413" y="7618510"/>
            <a:ext cx="3700281" cy="438150"/>
          </a:xfrm>
          <a:prstGeom prst="rect">
            <a:avLst/>
          </a:prstGeom>
        </p:spPr>
        <p:txBody>
          <a:bodyPr anchor="t" rtlCol="false" tIns="0" lIns="0" bIns="0" rIns="0">
            <a:spAutoFit/>
          </a:bodyPr>
          <a:lstStyle/>
          <a:p>
            <a:pPr algn="ctr">
              <a:lnSpc>
                <a:spcPts val="3449"/>
              </a:lnSpc>
            </a:pPr>
            <a:r>
              <a:rPr lang="en-US" sz="2499" b="true">
                <a:solidFill>
                  <a:srgbClr val="FFFFFF"/>
                </a:solidFill>
                <a:latin typeface="Poppins Bold"/>
                <a:ea typeface="Poppins Bold"/>
                <a:cs typeface="Poppins Bold"/>
                <a:sym typeface="Poppins Bold"/>
              </a:rPr>
              <a:t>M.sirri sakti</a:t>
            </a:r>
          </a:p>
        </p:txBody>
      </p:sp>
      <p:sp>
        <p:nvSpPr>
          <p:cNvPr name="TextBox 19" id="19"/>
          <p:cNvSpPr txBox="true"/>
          <p:nvPr/>
        </p:nvSpPr>
        <p:spPr>
          <a:xfrm rot="0">
            <a:off x="12127134" y="8129122"/>
            <a:ext cx="2728840" cy="371474"/>
          </a:xfrm>
          <a:prstGeom prst="rect">
            <a:avLst/>
          </a:prstGeom>
        </p:spPr>
        <p:txBody>
          <a:bodyPr anchor="t" rtlCol="false" tIns="0" lIns="0" bIns="0" rIns="0">
            <a:spAutoFit/>
          </a:bodyPr>
          <a:lstStyle/>
          <a:p>
            <a:pPr algn="ctr">
              <a:lnSpc>
                <a:spcPts val="3000"/>
              </a:lnSpc>
            </a:pPr>
            <a:r>
              <a:rPr lang="en-US" sz="2000">
                <a:solidFill>
                  <a:srgbClr val="FFFFFF"/>
                </a:solidFill>
                <a:latin typeface="Open Sans"/>
                <a:ea typeface="Open Sans"/>
                <a:cs typeface="Open Sans"/>
                <a:sym typeface="Open Sans"/>
              </a:rPr>
              <a:t>20240050070</a:t>
            </a:r>
          </a:p>
        </p:txBody>
      </p:sp>
      <p:sp>
        <p:nvSpPr>
          <p:cNvPr name="TextBox 20" id="20"/>
          <p:cNvSpPr txBox="true"/>
          <p:nvPr/>
        </p:nvSpPr>
        <p:spPr>
          <a:xfrm rot="0">
            <a:off x="2946306" y="8576796"/>
            <a:ext cx="3700281" cy="438150"/>
          </a:xfrm>
          <a:prstGeom prst="rect">
            <a:avLst/>
          </a:prstGeom>
        </p:spPr>
        <p:txBody>
          <a:bodyPr anchor="t" rtlCol="false" tIns="0" lIns="0" bIns="0" rIns="0">
            <a:spAutoFit/>
          </a:bodyPr>
          <a:lstStyle/>
          <a:p>
            <a:pPr algn="ctr">
              <a:lnSpc>
                <a:spcPts val="3449"/>
              </a:lnSpc>
            </a:pPr>
            <a:r>
              <a:rPr lang="en-US" sz="2499" b="true">
                <a:solidFill>
                  <a:srgbClr val="FFFFFF"/>
                </a:solidFill>
                <a:latin typeface="Poppins Bold"/>
                <a:ea typeface="Poppins Bold"/>
                <a:cs typeface="Poppins Bold"/>
                <a:sym typeface="Poppins Bold"/>
              </a:rPr>
              <a:t>Gustavo Gilbert w</a:t>
            </a:r>
          </a:p>
        </p:txBody>
      </p:sp>
      <p:sp>
        <p:nvSpPr>
          <p:cNvPr name="TextBox 21" id="21"/>
          <p:cNvSpPr txBox="true"/>
          <p:nvPr/>
        </p:nvSpPr>
        <p:spPr>
          <a:xfrm rot="0">
            <a:off x="11641413" y="8576796"/>
            <a:ext cx="3700281" cy="438150"/>
          </a:xfrm>
          <a:prstGeom prst="rect">
            <a:avLst/>
          </a:prstGeom>
        </p:spPr>
        <p:txBody>
          <a:bodyPr anchor="t" rtlCol="false" tIns="0" lIns="0" bIns="0" rIns="0">
            <a:spAutoFit/>
          </a:bodyPr>
          <a:lstStyle/>
          <a:p>
            <a:pPr algn="ctr">
              <a:lnSpc>
                <a:spcPts val="3449"/>
              </a:lnSpc>
            </a:pPr>
            <a:r>
              <a:rPr lang="en-US" sz="2499" b="true">
                <a:solidFill>
                  <a:srgbClr val="FFFFFF"/>
                </a:solidFill>
                <a:latin typeface="Poppins Bold"/>
                <a:ea typeface="Poppins Bold"/>
                <a:cs typeface="Poppins Bold"/>
                <a:sym typeface="Poppins Bold"/>
              </a:rPr>
              <a:t>M.Iyang</a:t>
            </a:r>
          </a:p>
        </p:txBody>
      </p:sp>
      <p:sp>
        <p:nvSpPr>
          <p:cNvPr name="TextBox 22" id="22"/>
          <p:cNvSpPr txBox="true"/>
          <p:nvPr/>
        </p:nvSpPr>
        <p:spPr>
          <a:xfrm rot="0">
            <a:off x="3432026" y="9191625"/>
            <a:ext cx="2728840" cy="371474"/>
          </a:xfrm>
          <a:prstGeom prst="rect">
            <a:avLst/>
          </a:prstGeom>
        </p:spPr>
        <p:txBody>
          <a:bodyPr anchor="t" rtlCol="false" tIns="0" lIns="0" bIns="0" rIns="0">
            <a:spAutoFit/>
          </a:bodyPr>
          <a:lstStyle/>
          <a:p>
            <a:pPr algn="ctr">
              <a:lnSpc>
                <a:spcPts val="3000"/>
              </a:lnSpc>
            </a:pPr>
            <a:r>
              <a:rPr lang="en-US" sz="2000">
                <a:solidFill>
                  <a:srgbClr val="FFFFFF"/>
                </a:solidFill>
                <a:latin typeface="Open Sans"/>
                <a:ea typeface="Open Sans"/>
                <a:cs typeface="Open Sans"/>
                <a:sym typeface="Open Sans"/>
              </a:rPr>
              <a:t>20240050087</a:t>
            </a:r>
          </a:p>
        </p:txBody>
      </p:sp>
      <p:sp>
        <p:nvSpPr>
          <p:cNvPr name="TextBox 23" id="23"/>
          <p:cNvSpPr txBox="true"/>
          <p:nvPr/>
        </p:nvSpPr>
        <p:spPr>
          <a:xfrm rot="0">
            <a:off x="12127134" y="9091146"/>
            <a:ext cx="2728840" cy="371474"/>
          </a:xfrm>
          <a:prstGeom prst="rect">
            <a:avLst/>
          </a:prstGeom>
        </p:spPr>
        <p:txBody>
          <a:bodyPr anchor="t" rtlCol="false" tIns="0" lIns="0" bIns="0" rIns="0">
            <a:spAutoFit/>
          </a:bodyPr>
          <a:lstStyle/>
          <a:p>
            <a:pPr algn="ctr">
              <a:lnSpc>
                <a:spcPts val="3000"/>
              </a:lnSpc>
            </a:pPr>
            <a:r>
              <a:rPr lang="en-US" sz="2000">
                <a:solidFill>
                  <a:srgbClr val="FFFFFF"/>
                </a:solidFill>
                <a:latin typeface="Open Sans"/>
                <a:ea typeface="Open Sans"/>
                <a:cs typeface="Open Sans"/>
                <a:sym typeface="Open Sans"/>
              </a:rPr>
              <a:t>20240050033</a:t>
            </a:r>
          </a:p>
        </p:txBody>
      </p:sp>
      <p:grpSp>
        <p:nvGrpSpPr>
          <p:cNvPr name="Group 24" id="24"/>
          <p:cNvGrpSpPr>
            <a:grpSpLocks noChangeAspect="true"/>
          </p:cNvGrpSpPr>
          <p:nvPr/>
        </p:nvGrpSpPr>
        <p:grpSpPr>
          <a:xfrm rot="0">
            <a:off x="12939584" y="-634241"/>
            <a:ext cx="5755971" cy="8222816"/>
            <a:chOff x="0" y="0"/>
            <a:chExt cx="4445000" cy="6350000"/>
          </a:xfrm>
        </p:grpSpPr>
        <p:sp>
          <p:nvSpPr>
            <p:cNvPr name="Freeform 25" id="25"/>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
        <p:nvSpPr>
          <p:cNvPr name="TextBox 26" id="26"/>
          <p:cNvSpPr txBox="true"/>
          <p:nvPr/>
        </p:nvSpPr>
        <p:spPr>
          <a:xfrm rot="0">
            <a:off x="7779580" y="7170836"/>
            <a:ext cx="2728840" cy="371474"/>
          </a:xfrm>
          <a:prstGeom prst="rect">
            <a:avLst/>
          </a:prstGeom>
        </p:spPr>
        <p:txBody>
          <a:bodyPr anchor="t" rtlCol="false" tIns="0" lIns="0" bIns="0" rIns="0">
            <a:spAutoFit/>
          </a:bodyPr>
          <a:lstStyle/>
          <a:p>
            <a:pPr algn="ctr">
              <a:lnSpc>
                <a:spcPts val="3000"/>
              </a:lnSpc>
            </a:pPr>
            <a:r>
              <a:rPr lang="en-US" sz="2000">
                <a:solidFill>
                  <a:srgbClr val="FFFFFF"/>
                </a:solidFill>
                <a:latin typeface="Open Sans"/>
                <a:ea typeface="Open Sans"/>
                <a:cs typeface="Open Sans"/>
                <a:sym typeface="Open Sans"/>
              </a:rPr>
              <a:t>KETUA KELOMPOK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20003" y="3206570"/>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PENDAHULUAN</a:t>
            </a:r>
          </a:p>
        </p:txBody>
      </p:sp>
      <p:sp>
        <p:nvSpPr>
          <p:cNvPr name="TextBox 17" id="17"/>
          <p:cNvSpPr txBox="true"/>
          <p:nvPr/>
        </p:nvSpPr>
        <p:spPr>
          <a:xfrm rot="0">
            <a:off x="2559799" y="5953126"/>
            <a:ext cx="6795942" cy="3038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Dokumen ini dibuat untuk menjelaskan proses analisis dan perancangan sistem pelayanan rumah sakit SISRG</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Sistem difokuskan pada pendaftaran pasien berbasis mobile</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Tujuan akhirnya adalah menjadi acuan pengembangan aplikasi agar sesuai kebutuhan pengguna dan rumah sakit</a:t>
            </a:r>
          </a:p>
        </p:txBody>
      </p:sp>
      <p:sp>
        <p:nvSpPr>
          <p:cNvPr name="TextBox 18" id="18"/>
          <p:cNvSpPr txBox="true"/>
          <p:nvPr/>
        </p:nvSpPr>
        <p:spPr>
          <a:xfrm rot="0">
            <a:off x="2559799" y="5193891"/>
            <a:ext cx="5465903"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Tujuan Penulisan Dokumen </a:t>
            </a:r>
          </a:p>
        </p:txBody>
      </p:sp>
      <p:grpSp>
        <p:nvGrpSpPr>
          <p:cNvPr name="Group 19" id="19"/>
          <p:cNvGrpSpPr>
            <a:grpSpLocks noChangeAspect="true"/>
          </p:cNvGrpSpPr>
          <p:nvPr/>
        </p:nvGrpSpPr>
        <p:grpSpPr>
          <a:xfrm rot="0">
            <a:off x="13542949" y="2503666"/>
            <a:ext cx="5755971" cy="8222816"/>
            <a:chOff x="0" y="0"/>
            <a:chExt cx="4445000" cy="6350000"/>
          </a:xfrm>
        </p:grpSpPr>
        <p:sp>
          <p:nvSpPr>
            <p:cNvPr name="Freeform 20" id="20"/>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20003" y="3206570"/>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LINGKUP MASALAH</a:t>
            </a:r>
          </a:p>
        </p:txBody>
      </p:sp>
      <p:sp>
        <p:nvSpPr>
          <p:cNvPr name="TextBox 17" id="17"/>
          <p:cNvSpPr txBox="true"/>
          <p:nvPr/>
        </p:nvSpPr>
        <p:spPr>
          <a:xfrm rot="0">
            <a:off x="2559799" y="5953126"/>
            <a:ext cx="6795942" cy="1895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Pendaftaran masih manual</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Antrian panjang</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Data pasien tidak terpusat</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Sulit mencari data pasien lama</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Pasien tidak bisa memilih poli &amp; jadwal sendiri</a:t>
            </a:r>
          </a:p>
        </p:txBody>
      </p:sp>
      <p:sp>
        <p:nvSpPr>
          <p:cNvPr name="TextBox 18" id="18"/>
          <p:cNvSpPr txBox="true"/>
          <p:nvPr/>
        </p:nvSpPr>
        <p:spPr>
          <a:xfrm rot="0">
            <a:off x="2559799" y="5193891"/>
            <a:ext cx="6584201"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Masalah yang dihadapi rumah sakit</a:t>
            </a:r>
          </a:p>
        </p:txBody>
      </p:sp>
      <p:grpSp>
        <p:nvGrpSpPr>
          <p:cNvPr name="Group 19" id="19"/>
          <p:cNvGrpSpPr>
            <a:grpSpLocks noChangeAspect="true"/>
          </p:cNvGrpSpPr>
          <p:nvPr/>
        </p:nvGrpSpPr>
        <p:grpSpPr>
          <a:xfrm rot="0">
            <a:off x="13238149" y="2198866"/>
            <a:ext cx="5755971" cy="8222816"/>
            <a:chOff x="0" y="0"/>
            <a:chExt cx="4445000" cy="6350000"/>
          </a:xfrm>
        </p:grpSpPr>
        <p:sp>
          <p:nvSpPr>
            <p:cNvPr name="Freeform 20" id="20"/>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grpSp>
        <p:nvGrpSpPr>
          <p:cNvPr name="Group 21" id="21"/>
          <p:cNvGrpSpPr>
            <a:grpSpLocks noChangeAspect="true"/>
          </p:cNvGrpSpPr>
          <p:nvPr/>
        </p:nvGrpSpPr>
        <p:grpSpPr>
          <a:xfrm rot="0">
            <a:off x="13390549" y="2351266"/>
            <a:ext cx="5755971" cy="8222816"/>
            <a:chOff x="0" y="0"/>
            <a:chExt cx="4445000" cy="6350000"/>
          </a:xfrm>
        </p:grpSpPr>
        <p:sp>
          <p:nvSpPr>
            <p:cNvPr name="Freeform 22" id="22"/>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20003" y="3206570"/>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LINGKUP MASALAH</a:t>
            </a:r>
          </a:p>
        </p:txBody>
      </p:sp>
      <p:sp>
        <p:nvSpPr>
          <p:cNvPr name="TextBox 17" id="17"/>
          <p:cNvSpPr txBox="true"/>
          <p:nvPr/>
        </p:nvSpPr>
        <p:spPr>
          <a:xfrm rot="0">
            <a:off x="2559799" y="5953126"/>
            <a:ext cx="6795942" cy="1514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Pendaftaran online</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Pemilihan poli &amp; jadwal dokter</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Nomor antrian otomatis</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Data tersimpan di database</a:t>
            </a:r>
          </a:p>
        </p:txBody>
      </p:sp>
      <p:sp>
        <p:nvSpPr>
          <p:cNvPr name="TextBox 18" id="18"/>
          <p:cNvSpPr txBox="true"/>
          <p:nvPr/>
        </p:nvSpPr>
        <p:spPr>
          <a:xfrm rot="0">
            <a:off x="2559799" y="5193891"/>
            <a:ext cx="6584201"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Solusi yang ditawarkan sistem</a:t>
            </a:r>
          </a:p>
        </p:txBody>
      </p:sp>
      <p:grpSp>
        <p:nvGrpSpPr>
          <p:cNvPr name="Group 19" id="19"/>
          <p:cNvGrpSpPr>
            <a:grpSpLocks noChangeAspect="true"/>
          </p:cNvGrpSpPr>
          <p:nvPr/>
        </p:nvGrpSpPr>
        <p:grpSpPr>
          <a:xfrm rot="0">
            <a:off x="13085749" y="2046466"/>
            <a:ext cx="5755971" cy="8222816"/>
            <a:chOff x="0" y="0"/>
            <a:chExt cx="4445000" cy="6350000"/>
          </a:xfrm>
        </p:grpSpPr>
        <p:sp>
          <p:nvSpPr>
            <p:cNvPr name="Freeform 20" id="20"/>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20003" y="3206570"/>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DEFINISI DAN ISTILAH</a:t>
            </a:r>
          </a:p>
        </p:txBody>
      </p:sp>
      <p:sp>
        <p:nvSpPr>
          <p:cNvPr name="TextBox 17" id="17"/>
          <p:cNvSpPr txBox="true"/>
          <p:nvPr/>
        </p:nvSpPr>
        <p:spPr>
          <a:xfrm rot="0">
            <a:off x="2559799" y="4709660"/>
            <a:ext cx="6795942"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lSPMP → Dokumen manajemen proyek</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SRS → Dokumen kebutuhan sistem</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SDD → Dokumen desain sistem</a:t>
            </a:r>
          </a:p>
        </p:txBody>
      </p:sp>
      <p:grpSp>
        <p:nvGrpSpPr>
          <p:cNvPr name="Group 18" id="18"/>
          <p:cNvGrpSpPr>
            <a:grpSpLocks noChangeAspect="true"/>
          </p:cNvGrpSpPr>
          <p:nvPr/>
        </p:nvGrpSpPr>
        <p:grpSpPr>
          <a:xfrm rot="0">
            <a:off x="12933349" y="1894066"/>
            <a:ext cx="5755971" cy="8222816"/>
            <a:chOff x="0" y="0"/>
            <a:chExt cx="4445000" cy="6350000"/>
          </a:xfrm>
        </p:grpSpPr>
        <p:sp>
          <p:nvSpPr>
            <p:cNvPr name="Freeform 19" id="19"/>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20003" y="3206570"/>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IKHTISAR DOKUMEN</a:t>
            </a:r>
          </a:p>
        </p:txBody>
      </p:sp>
      <p:sp>
        <p:nvSpPr>
          <p:cNvPr name="TextBox 17" id="17"/>
          <p:cNvSpPr txBox="true"/>
          <p:nvPr/>
        </p:nvSpPr>
        <p:spPr>
          <a:xfrm rot="0">
            <a:off x="2559799" y="4709660"/>
            <a:ext cx="6795942" cy="1514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Bab I → Pendahuluan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Bab II → Perancangan global</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Bab III → Perancangan rinci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Bab selanjutnya → Modul, UML, dan pengujian</a:t>
            </a:r>
          </a:p>
        </p:txBody>
      </p:sp>
      <p:grpSp>
        <p:nvGrpSpPr>
          <p:cNvPr name="Group 18" id="18"/>
          <p:cNvGrpSpPr>
            <a:grpSpLocks noChangeAspect="true"/>
          </p:cNvGrpSpPr>
          <p:nvPr/>
        </p:nvGrpSpPr>
        <p:grpSpPr>
          <a:xfrm rot="0">
            <a:off x="12780949" y="1741666"/>
            <a:ext cx="5755971" cy="8222816"/>
            <a:chOff x="0" y="0"/>
            <a:chExt cx="4445000" cy="6350000"/>
          </a:xfrm>
        </p:grpSpPr>
        <p:sp>
          <p:nvSpPr>
            <p:cNvPr name="Freeform 19" id="19"/>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59799" y="1189059"/>
            <a:ext cx="7549182" cy="2355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PERANCANGAN GLOBAL</a:t>
            </a:r>
          </a:p>
        </p:txBody>
      </p:sp>
      <p:sp>
        <p:nvSpPr>
          <p:cNvPr name="TextBox 17" id="17"/>
          <p:cNvSpPr txBox="true"/>
          <p:nvPr/>
        </p:nvSpPr>
        <p:spPr>
          <a:xfrm rot="0">
            <a:off x="2559799" y="5257800"/>
            <a:ext cx="6795942" cy="752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OS &amp; Tools: Draw.io, Visual Paradigm, Figma, Word</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Penyimpanan: laptop &amp; HP tim</a:t>
            </a:r>
          </a:p>
        </p:txBody>
      </p:sp>
      <p:sp>
        <p:nvSpPr>
          <p:cNvPr name="TextBox 18" id="18"/>
          <p:cNvSpPr txBox="true"/>
          <p:nvPr/>
        </p:nvSpPr>
        <p:spPr>
          <a:xfrm rot="0">
            <a:off x="2559799" y="4692650"/>
            <a:ext cx="5465903"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Rancangan Kebutuhan</a:t>
            </a:r>
          </a:p>
        </p:txBody>
      </p:sp>
      <p:sp>
        <p:nvSpPr>
          <p:cNvPr name="TextBox 19" id="19"/>
          <p:cNvSpPr txBox="true"/>
          <p:nvPr/>
        </p:nvSpPr>
        <p:spPr>
          <a:xfrm rot="0">
            <a:off x="2559799" y="3652859"/>
            <a:ext cx="7549182"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Rancangan Lingkungan Implementasi</a:t>
            </a:r>
          </a:p>
        </p:txBody>
      </p:sp>
      <p:grpSp>
        <p:nvGrpSpPr>
          <p:cNvPr name="Group 20" id="20"/>
          <p:cNvGrpSpPr>
            <a:grpSpLocks noChangeAspect="true"/>
          </p:cNvGrpSpPr>
          <p:nvPr/>
        </p:nvGrpSpPr>
        <p:grpSpPr>
          <a:xfrm rot="0">
            <a:off x="12628549" y="1589266"/>
            <a:ext cx="5755971" cy="8222816"/>
            <a:chOff x="0" y="0"/>
            <a:chExt cx="4445000" cy="6350000"/>
          </a:xfrm>
        </p:grpSpPr>
        <p:sp>
          <p:nvSpPr>
            <p:cNvPr name="Freeform 21" id="21"/>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97406" y="0"/>
            <a:ext cx="5290594" cy="10287000"/>
            <a:chOff x="0" y="0"/>
            <a:chExt cx="1393407" cy="2709333"/>
          </a:xfrm>
        </p:grpSpPr>
        <p:sp>
          <p:nvSpPr>
            <p:cNvPr name="Freeform 4" id="4"/>
            <p:cNvSpPr/>
            <p:nvPr/>
          </p:nvSpPr>
          <p:spPr>
            <a:xfrm flipH="false" flipV="false" rot="0">
              <a:off x="0" y="0"/>
              <a:ext cx="1393407" cy="2709333"/>
            </a:xfrm>
            <a:custGeom>
              <a:avLst/>
              <a:gdLst/>
              <a:ahLst/>
              <a:cxnLst/>
              <a:rect r="r" b="b" t="t" l="l"/>
              <a:pathLst>
                <a:path h="2709333" w="1393407">
                  <a:moveTo>
                    <a:pt x="0" y="0"/>
                  </a:moveTo>
                  <a:lnTo>
                    <a:pt x="1393407" y="0"/>
                  </a:lnTo>
                  <a:lnTo>
                    <a:pt x="1393407" y="2709333"/>
                  </a:lnTo>
                  <a:lnTo>
                    <a:pt x="0" y="2709333"/>
                  </a:lnTo>
                  <a:close/>
                </a:path>
              </a:pathLst>
            </a:custGeom>
            <a:solidFill>
              <a:srgbClr val="37A3FE"/>
            </a:solidFill>
          </p:spPr>
        </p:sp>
        <p:sp>
          <p:nvSpPr>
            <p:cNvPr name="TextBox 5" id="5"/>
            <p:cNvSpPr txBox="true"/>
            <p:nvPr/>
          </p:nvSpPr>
          <p:spPr>
            <a:xfrm>
              <a:off x="0" y="-9525"/>
              <a:ext cx="1393407"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2559799" y="1951059"/>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TOOLS YANG DIGUNAKAN</a:t>
            </a:r>
          </a:p>
        </p:txBody>
      </p:sp>
      <p:sp>
        <p:nvSpPr>
          <p:cNvPr name="TextBox 17" id="17"/>
          <p:cNvSpPr txBox="true"/>
          <p:nvPr/>
        </p:nvSpPr>
        <p:spPr>
          <a:xfrm rot="0">
            <a:off x="2559799" y="5076825"/>
            <a:ext cx="6795942" cy="1514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Laptop sebagai alat utama </a:t>
            </a:r>
            <a:r>
              <a:rPr lang="en-US" sz="2000">
                <a:solidFill>
                  <a:srgbClr val="000000"/>
                </a:solidFill>
                <a:latin typeface="Open Sans"/>
                <a:ea typeface="Open Sans"/>
                <a:cs typeface="Open Sans"/>
                <a:sym typeface="Open Sans"/>
              </a:rPr>
              <a:t>Digunakan untuk desain, pemodelan, dan dokumentasi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Smartphone Digunakan Untuk Dokumentasi Dan Pemodelan </a:t>
            </a:r>
          </a:p>
        </p:txBody>
      </p:sp>
      <p:grpSp>
        <p:nvGrpSpPr>
          <p:cNvPr name="Group 18" id="18"/>
          <p:cNvGrpSpPr>
            <a:grpSpLocks noChangeAspect="true"/>
          </p:cNvGrpSpPr>
          <p:nvPr/>
        </p:nvGrpSpPr>
        <p:grpSpPr>
          <a:xfrm rot="0">
            <a:off x="12476149" y="1436866"/>
            <a:ext cx="5755971" cy="8222816"/>
            <a:chOff x="0" y="0"/>
            <a:chExt cx="4445000" cy="6350000"/>
          </a:xfrm>
        </p:grpSpPr>
        <p:sp>
          <p:nvSpPr>
            <p:cNvPr name="Freeform 19" id="19"/>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713120" y="9258300"/>
            <a:ext cx="546180" cy="5461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93304" y="4284401"/>
            <a:ext cx="11040159" cy="110401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5400000">
            <a:off x="7825319" y="1483990"/>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0407078" y="328803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0006043" y="4703109"/>
            <a:ext cx="941717" cy="94171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grpSp>
        <p:nvGrpSpPr>
          <p:cNvPr name="Group 16" id="16"/>
          <p:cNvGrpSpPr/>
          <p:nvPr/>
        </p:nvGrpSpPr>
        <p:grpSpPr>
          <a:xfrm rot="0">
            <a:off x="10006043" y="6827229"/>
            <a:ext cx="941717" cy="94171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8" id="1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9" id="19"/>
          <p:cNvSpPr/>
          <p:nvPr/>
        </p:nvSpPr>
        <p:spPr>
          <a:xfrm flipH="false" flipV="false" rot="0">
            <a:off x="17252218" y="1035484"/>
            <a:ext cx="2071565" cy="1039976"/>
          </a:xfrm>
          <a:custGeom>
            <a:avLst/>
            <a:gdLst/>
            <a:ahLst/>
            <a:cxnLst/>
            <a:rect r="r" b="b" t="t" l="l"/>
            <a:pathLst>
              <a:path h="1039976" w="2071565">
                <a:moveTo>
                  <a:pt x="0" y="0"/>
                </a:moveTo>
                <a:lnTo>
                  <a:pt x="2071564" y="0"/>
                </a:lnTo>
                <a:lnTo>
                  <a:pt x="2071564" y="1039976"/>
                </a:lnTo>
                <a:lnTo>
                  <a:pt x="0" y="1039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10006043" y="2567985"/>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DATA</a:t>
            </a:r>
          </a:p>
        </p:txBody>
      </p:sp>
      <p:sp>
        <p:nvSpPr>
          <p:cNvPr name="TextBox 21" id="21"/>
          <p:cNvSpPr txBox="true"/>
          <p:nvPr/>
        </p:nvSpPr>
        <p:spPr>
          <a:xfrm rot="0">
            <a:off x="11399049" y="5183010"/>
            <a:ext cx="5182278" cy="752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identitas pasien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Digunakan untuk login &amp; pendaftaran</a:t>
            </a:r>
          </a:p>
        </p:txBody>
      </p:sp>
      <p:sp>
        <p:nvSpPr>
          <p:cNvPr name="TextBox 22" id="22"/>
          <p:cNvSpPr txBox="true"/>
          <p:nvPr/>
        </p:nvSpPr>
        <p:spPr>
          <a:xfrm rot="0">
            <a:off x="11399049" y="7371534"/>
            <a:ext cx="5314070"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data admin rumah sakit</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Digunakan untuk validasi &amp; pengelolaan sistem</a:t>
            </a:r>
          </a:p>
        </p:txBody>
      </p:sp>
      <p:sp>
        <p:nvSpPr>
          <p:cNvPr name="TextBox 23" id="23"/>
          <p:cNvSpPr txBox="true"/>
          <p:nvPr/>
        </p:nvSpPr>
        <p:spPr>
          <a:xfrm rot="0">
            <a:off x="11383740" y="4671967"/>
            <a:ext cx="5197588"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Pasien</a:t>
            </a:r>
          </a:p>
        </p:txBody>
      </p:sp>
      <p:sp>
        <p:nvSpPr>
          <p:cNvPr name="TextBox 24" id="24"/>
          <p:cNvSpPr txBox="true"/>
          <p:nvPr/>
        </p:nvSpPr>
        <p:spPr>
          <a:xfrm rot="0">
            <a:off x="11383740" y="6855804"/>
            <a:ext cx="556127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Admin</a:t>
            </a:r>
          </a:p>
        </p:txBody>
      </p:sp>
      <p:sp>
        <p:nvSpPr>
          <p:cNvPr name="TextBox 25" id="25"/>
          <p:cNvSpPr txBox="true"/>
          <p:nvPr/>
        </p:nvSpPr>
        <p:spPr>
          <a:xfrm rot="0">
            <a:off x="10113892" y="498826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01</a:t>
            </a:r>
          </a:p>
        </p:txBody>
      </p:sp>
      <p:sp>
        <p:nvSpPr>
          <p:cNvPr name="TextBox 26" id="26"/>
          <p:cNvSpPr txBox="true"/>
          <p:nvPr/>
        </p:nvSpPr>
        <p:spPr>
          <a:xfrm rot="0">
            <a:off x="10113892" y="711238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02</a:t>
            </a:r>
          </a:p>
        </p:txBody>
      </p:sp>
      <p:grpSp>
        <p:nvGrpSpPr>
          <p:cNvPr name="Group 27" id="27"/>
          <p:cNvGrpSpPr>
            <a:grpSpLocks noChangeAspect="true"/>
          </p:cNvGrpSpPr>
          <p:nvPr/>
        </p:nvGrpSpPr>
        <p:grpSpPr>
          <a:xfrm rot="0">
            <a:off x="1607189" y="2046466"/>
            <a:ext cx="5755971" cy="8222816"/>
            <a:chOff x="0" y="0"/>
            <a:chExt cx="4445000" cy="6350000"/>
          </a:xfrm>
        </p:grpSpPr>
        <p:sp>
          <p:nvSpPr>
            <p:cNvPr name="Freeform 28" id="28"/>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713120" y="9258300"/>
            <a:ext cx="546180" cy="5461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93304" y="4284401"/>
            <a:ext cx="11040159" cy="110401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5400000">
            <a:off x="7825319" y="1483990"/>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0407078" y="328803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0006043" y="4703109"/>
            <a:ext cx="941717" cy="94171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grpSp>
        <p:nvGrpSpPr>
          <p:cNvPr name="Group 16" id="16"/>
          <p:cNvGrpSpPr/>
          <p:nvPr/>
        </p:nvGrpSpPr>
        <p:grpSpPr>
          <a:xfrm rot="0">
            <a:off x="10006043" y="6827229"/>
            <a:ext cx="941717" cy="94171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8" id="1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9" id="19"/>
          <p:cNvSpPr/>
          <p:nvPr/>
        </p:nvSpPr>
        <p:spPr>
          <a:xfrm flipH="false" flipV="false" rot="0">
            <a:off x="17252218" y="1035484"/>
            <a:ext cx="2071565" cy="1039976"/>
          </a:xfrm>
          <a:custGeom>
            <a:avLst/>
            <a:gdLst/>
            <a:ahLst/>
            <a:cxnLst/>
            <a:rect r="r" b="b" t="t" l="l"/>
            <a:pathLst>
              <a:path h="1039976" w="2071565">
                <a:moveTo>
                  <a:pt x="0" y="0"/>
                </a:moveTo>
                <a:lnTo>
                  <a:pt x="2071564" y="0"/>
                </a:lnTo>
                <a:lnTo>
                  <a:pt x="2071564" y="1039976"/>
                </a:lnTo>
                <a:lnTo>
                  <a:pt x="0" y="1039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1700103" y="738370"/>
            <a:ext cx="1838300" cy="584703"/>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Universitas</a:t>
            </a:r>
          </a:p>
          <a:p>
            <a:pPr algn="l">
              <a:lnSpc>
                <a:spcPts val="2220"/>
              </a:lnSpc>
            </a:pPr>
            <a:r>
              <a:rPr lang="en-US" sz="2000">
                <a:solidFill>
                  <a:srgbClr val="000000"/>
                </a:solidFill>
                <a:latin typeface="Poppins"/>
                <a:ea typeface="Poppins"/>
                <a:cs typeface="Poppins"/>
                <a:sym typeface="Poppins"/>
              </a:rPr>
              <a:t>Borcelle</a:t>
            </a:r>
          </a:p>
        </p:txBody>
      </p:sp>
      <p:sp>
        <p:nvSpPr>
          <p:cNvPr name="TextBox 21" id="21"/>
          <p:cNvSpPr txBox="true"/>
          <p:nvPr/>
        </p:nvSpPr>
        <p:spPr>
          <a:xfrm rot="0">
            <a:off x="10006043" y="2567985"/>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DATA</a:t>
            </a:r>
          </a:p>
        </p:txBody>
      </p:sp>
      <p:sp>
        <p:nvSpPr>
          <p:cNvPr name="TextBox 22" id="22"/>
          <p:cNvSpPr txBox="true"/>
          <p:nvPr/>
        </p:nvSpPr>
        <p:spPr>
          <a:xfrm rot="0">
            <a:off x="11399049" y="5183010"/>
            <a:ext cx="5182278" cy="371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daftar poli layanan</a:t>
            </a:r>
          </a:p>
        </p:txBody>
      </p:sp>
      <p:sp>
        <p:nvSpPr>
          <p:cNvPr name="TextBox 23" id="23"/>
          <p:cNvSpPr txBox="true"/>
          <p:nvPr/>
        </p:nvSpPr>
        <p:spPr>
          <a:xfrm rot="0">
            <a:off x="11399049" y="7371534"/>
            <a:ext cx="5314070" cy="371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data dokter &amp; spesialis</a:t>
            </a:r>
          </a:p>
        </p:txBody>
      </p:sp>
      <p:sp>
        <p:nvSpPr>
          <p:cNvPr name="TextBox 24" id="24"/>
          <p:cNvSpPr txBox="true"/>
          <p:nvPr/>
        </p:nvSpPr>
        <p:spPr>
          <a:xfrm rot="0">
            <a:off x="11383740" y="4671967"/>
            <a:ext cx="5197588"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Poli</a:t>
            </a:r>
          </a:p>
        </p:txBody>
      </p:sp>
      <p:sp>
        <p:nvSpPr>
          <p:cNvPr name="TextBox 25" id="25"/>
          <p:cNvSpPr txBox="true"/>
          <p:nvPr/>
        </p:nvSpPr>
        <p:spPr>
          <a:xfrm rot="0">
            <a:off x="11383740" y="6855804"/>
            <a:ext cx="556127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Dokter</a:t>
            </a:r>
          </a:p>
        </p:txBody>
      </p:sp>
      <p:sp>
        <p:nvSpPr>
          <p:cNvPr name="TextBox 26" id="26"/>
          <p:cNvSpPr txBox="true"/>
          <p:nvPr/>
        </p:nvSpPr>
        <p:spPr>
          <a:xfrm rot="0">
            <a:off x="10113892" y="498826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01</a:t>
            </a:r>
          </a:p>
        </p:txBody>
      </p:sp>
      <p:sp>
        <p:nvSpPr>
          <p:cNvPr name="TextBox 27" id="27"/>
          <p:cNvSpPr txBox="true"/>
          <p:nvPr/>
        </p:nvSpPr>
        <p:spPr>
          <a:xfrm rot="0">
            <a:off x="10113892" y="711238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02</a:t>
            </a:r>
          </a:p>
        </p:txBody>
      </p:sp>
      <p:grpSp>
        <p:nvGrpSpPr>
          <p:cNvPr name="Group 28" id="28"/>
          <p:cNvGrpSpPr>
            <a:grpSpLocks noChangeAspect="true"/>
          </p:cNvGrpSpPr>
          <p:nvPr/>
        </p:nvGrpSpPr>
        <p:grpSpPr>
          <a:xfrm rot="0">
            <a:off x="1454789" y="1894066"/>
            <a:ext cx="5755971" cy="8222816"/>
            <a:chOff x="0" y="0"/>
            <a:chExt cx="4445000" cy="6350000"/>
          </a:xfrm>
        </p:grpSpPr>
        <p:sp>
          <p:nvSpPr>
            <p:cNvPr name="Freeform 29" id="29"/>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713120" y="9258300"/>
            <a:ext cx="546180" cy="5461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93304" y="4284401"/>
            <a:ext cx="11040159" cy="110401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5400000">
            <a:off x="7825319" y="1483990"/>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0407078" y="328803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0006043" y="4703109"/>
            <a:ext cx="941717" cy="94171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grpSp>
        <p:nvGrpSpPr>
          <p:cNvPr name="Group 16" id="16"/>
          <p:cNvGrpSpPr/>
          <p:nvPr/>
        </p:nvGrpSpPr>
        <p:grpSpPr>
          <a:xfrm rot="0">
            <a:off x="10006043" y="6827229"/>
            <a:ext cx="941717" cy="94171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8" id="1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9" id="19"/>
          <p:cNvSpPr/>
          <p:nvPr/>
        </p:nvSpPr>
        <p:spPr>
          <a:xfrm flipH="false" flipV="false" rot="0">
            <a:off x="17252218" y="1035484"/>
            <a:ext cx="2071565" cy="1039976"/>
          </a:xfrm>
          <a:custGeom>
            <a:avLst/>
            <a:gdLst/>
            <a:ahLst/>
            <a:cxnLst/>
            <a:rect r="r" b="b" t="t" l="l"/>
            <a:pathLst>
              <a:path h="1039976" w="2071565">
                <a:moveTo>
                  <a:pt x="0" y="0"/>
                </a:moveTo>
                <a:lnTo>
                  <a:pt x="2071564" y="0"/>
                </a:lnTo>
                <a:lnTo>
                  <a:pt x="2071564" y="1039976"/>
                </a:lnTo>
                <a:lnTo>
                  <a:pt x="0" y="1039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1700103" y="738370"/>
            <a:ext cx="1838300" cy="584703"/>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Universitas</a:t>
            </a:r>
          </a:p>
          <a:p>
            <a:pPr algn="l">
              <a:lnSpc>
                <a:spcPts val="2220"/>
              </a:lnSpc>
            </a:pPr>
            <a:r>
              <a:rPr lang="en-US" sz="2000">
                <a:solidFill>
                  <a:srgbClr val="000000"/>
                </a:solidFill>
                <a:latin typeface="Poppins"/>
                <a:ea typeface="Poppins"/>
                <a:cs typeface="Poppins"/>
                <a:sym typeface="Poppins"/>
              </a:rPr>
              <a:t>Borcelle</a:t>
            </a:r>
          </a:p>
        </p:txBody>
      </p:sp>
      <p:sp>
        <p:nvSpPr>
          <p:cNvPr name="TextBox 21" id="21"/>
          <p:cNvSpPr txBox="true"/>
          <p:nvPr/>
        </p:nvSpPr>
        <p:spPr>
          <a:xfrm rot="0">
            <a:off x="10006043" y="2567985"/>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DATA</a:t>
            </a:r>
          </a:p>
        </p:txBody>
      </p:sp>
      <p:sp>
        <p:nvSpPr>
          <p:cNvPr name="TextBox 22" id="22"/>
          <p:cNvSpPr txBox="true"/>
          <p:nvPr/>
        </p:nvSpPr>
        <p:spPr>
          <a:xfrm rot="0">
            <a:off x="11399049" y="5183010"/>
            <a:ext cx="5182278" cy="371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jadwal praktik dokter</a:t>
            </a:r>
          </a:p>
        </p:txBody>
      </p:sp>
      <p:sp>
        <p:nvSpPr>
          <p:cNvPr name="TextBox 23" id="23"/>
          <p:cNvSpPr txBox="true"/>
          <p:nvPr/>
        </p:nvSpPr>
        <p:spPr>
          <a:xfrm rot="0">
            <a:off x="11399049" y="7371534"/>
            <a:ext cx="5314070" cy="752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data pasien yang mendaftar</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Relasi ke pasien, poli, dokter, jadwal</a:t>
            </a:r>
          </a:p>
        </p:txBody>
      </p:sp>
      <p:sp>
        <p:nvSpPr>
          <p:cNvPr name="TextBox 24" id="24"/>
          <p:cNvSpPr txBox="true"/>
          <p:nvPr/>
        </p:nvSpPr>
        <p:spPr>
          <a:xfrm rot="0">
            <a:off x="11383740" y="4671967"/>
            <a:ext cx="5197588"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Jadwal Dokter</a:t>
            </a:r>
          </a:p>
        </p:txBody>
      </p:sp>
      <p:sp>
        <p:nvSpPr>
          <p:cNvPr name="TextBox 25" id="25"/>
          <p:cNvSpPr txBox="true"/>
          <p:nvPr/>
        </p:nvSpPr>
        <p:spPr>
          <a:xfrm rot="0">
            <a:off x="11383740" y="6855804"/>
            <a:ext cx="556127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Pendaftaran</a:t>
            </a:r>
          </a:p>
        </p:txBody>
      </p:sp>
      <p:sp>
        <p:nvSpPr>
          <p:cNvPr name="TextBox 26" id="26"/>
          <p:cNvSpPr txBox="true"/>
          <p:nvPr/>
        </p:nvSpPr>
        <p:spPr>
          <a:xfrm rot="0">
            <a:off x="10113892" y="498826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01</a:t>
            </a:r>
          </a:p>
        </p:txBody>
      </p:sp>
      <p:sp>
        <p:nvSpPr>
          <p:cNvPr name="TextBox 27" id="27"/>
          <p:cNvSpPr txBox="true"/>
          <p:nvPr/>
        </p:nvSpPr>
        <p:spPr>
          <a:xfrm rot="0">
            <a:off x="10113892" y="711238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02</a:t>
            </a:r>
          </a:p>
        </p:txBody>
      </p:sp>
      <p:grpSp>
        <p:nvGrpSpPr>
          <p:cNvPr name="Group 28" id="28"/>
          <p:cNvGrpSpPr>
            <a:grpSpLocks noChangeAspect="true"/>
          </p:cNvGrpSpPr>
          <p:nvPr/>
        </p:nvGrpSpPr>
        <p:grpSpPr>
          <a:xfrm rot="0">
            <a:off x="1302389" y="1741666"/>
            <a:ext cx="5755971" cy="8222816"/>
            <a:chOff x="0" y="0"/>
            <a:chExt cx="4445000" cy="6350000"/>
          </a:xfrm>
        </p:grpSpPr>
        <p:sp>
          <p:nvSpPr>
            <p:cNvPr name="Freeform 29" id="29"/>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713120" y="9258300"/>
            <a:ext cx="546180" cy="5461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93304" y="4284401"/>
            <a:ext cx="11040159" cy="110401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5400000">
            <a:off x="7825319" y="1483990"/>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0407078" y="328803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0006043" y="4703109"/>
            <a:ext cx="941717" cy="94171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15" id="1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6" id="16"/>
          <p:cNvSpPr/>
          <p:nvPr/>
        </p:nvSpPr>
        <p:spPr>
          <a:xfrm flipH="false" flipV="false" rot="0">
            <a:off x="17252218" y="1035484"/>
            <a:ext cx="2071565" cy="1039976"/>
          </a:xfrm>
          <a:custGeom>
            <a:avLst/>
            <a:gdLst/>
            <a:ahLst/>
            <a:cxnLst/>
            <a:rect r="r" b="b" t="t" l="l"/>
            <a:pathLst>
              <a:path h="1039976" w="2071565">
                <a:moveTo>
                  <a:pt x="0" y="0"/>
                </a:moveTo>
                <a:lnTo>
                  <a:pt x="2071564" y="0"/>
                </a:lnTo>
                <a:lnTo>
                  <a:pt x="2071564" y="1039976"/>
                </a:lnTo>
                <a:lnTo>
                  <a:pt x="0" y="1039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700103" y="738370"/>
            <a:ext cx="1838300" cy="584703"/>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Universitas</a:t>
            </a:r>
          </a:p>
          <a:p>
            <a:pPr algn="l">
              <a:lnSpc>
                <a:spcPts val="2220"/>
              </a:lnSpc>
            </a:pPr>
            <a:r>
              <a:rPr lang="en-US" sz="2000">
                <a:solidFill>
                  <a:srgbClr val="000000"/>
                </a:solidFill>
                <a:latin typeface="Poppins"/>
                <a:ea typeface="Poppins"/>
                <a:cs typeface="Poppins"/>
                <a:sym typeface="Poppins"/>
              </a:rPr>
              <a:t>Borcelle</a:t>
            </a:r>
          </a:p>
        </p:txBody>
      </p:sp>
      <p:sp>
        <p:nvSpPr>
          <p:cNvPr name="TextBox 18" id="18"/>
          <p:cNvSpPr txBox="true"/>
          <p:nvPr/>
        </p:nvSpPr>
        <p:spPr>
          <a:xfrm rot="0">
            <a:off x="10006043" y="2567985"/>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DATA</a:t>
            </a:r>
          </a:p>
        </p:txBody>
      </p:sp>
      <p:sp>
        <p:nvSpPr>
          <p:cNvPr name="TextBox 19" id="19"/>
          <p:cNvSpPr txBox="true"/>
          <p:nvPr/>
        </p:nvSpPr>
        <p:spPr>
          <a:xfrm rot="0">
            <a:off x="11399049" y="5183010"/>
            <a:ext cx="5182278" cy="371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nomor dan status antrian</a:t>
            </a:r>
          </a:p>
        </p:txBody>
      </p:sp>
      <p:sp>
        <p:nvSpPr>
          <p:cNvPr name="TextBox 20" id="20"/>
          <p:cNvSpPr txBox="true"/>
          <p:nvPr/>
        </p:nvSpPr>
        <p:spPr>
          <a:xfrm rot="0">
            <a:off x="11383740" y="4671967"/>
            <a:ext cx="5197588"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Tabel Antrian</a:t>
            </a:r>
          </a:p>
        </p:txBody>
      </p:sp>
      <p:sp>
        <p:nvSpPr>
          <p:cNvPr name="TextBox 21" id="21"/>
          <p:cNvSpPr txBox="true"/>
          <p:nvPr/>
        </p:nvSpPr>
        <p:spPr>
          <a:xfrm rot="0">
            <a:off x="10113892" y="498826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01</a:t>
            </a:r>
          </a:p>
        </p:txBody>
      </p:sp>
      <p:sp>
        <p:nvSpPr>
          <p:cNvPr name="TextBox 22" id="22"/>
          <p:cNvSpPr txBox="true"/>
          <p:nvPr/>
        </p:nvSpPr>
        <p:spPr>
          <a:xfrm rot="0">
            <a:off x="10113892" y="711238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02</a:t>
            </a:r>
          </a:p>
        </p:txBody>
      </p:sp>
      <p:grpSp>
        <p:nvGrpSpPr>
          <p:cNvPr name="Group 23" id="23"/>
          <p:cNvGrpSpPr>
            <a:grpSpLocks noChangeAspect="true"/>
          </p:cNvGrpSpPr>
          <p:nvPr/>
        </p:nvGrpSpPr>
        <p:grpSpPr>
          <a:xfrm rot="0">
            <a:off x="1149989" y="1589266"/>
            <a:ext cx="5755971" cy="8222816"/>
            <a:chOff x="0" y="0"/>
            <a:chExt cx="4445000" cy="6350000"/>
          </a:xfrm>
        </p:grpSpPr>
        <p:sp>
          <p:nvSpPr>
            <p:cNvPr name="Freeform 24" id="24"/>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713120" y="9258300"/>
            <a:ext cx="546180" cy="5461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93304" y="4284401"/>
            <a:ext cx="11040159" cy="110401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5400000">
            <a:off x="7825319" y="1483990"/>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0407078" y="328803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7252218" y="1035484"/>
            <a:ext cx="2071565" cy="1039976"/>
          </a:xfrm>
          <a:custGeom>
            <a:avLst/>
            <a:gdLst/>
            <a:ahLst/>
            <a:cxnLst/>
            <a:rect r="r" b="b" t="t" l="l"/>
            <a:pathLst>
              <a:path h="1039976" w="2071565">
                <a:moveTo>
                  <a:pt x="0" y="0"/>
                </a:moveTo>
                <a:lnTo>
                  <a:pt x="2071564" y="0"/>
                </a:lnTo>
                <a:lnTo>
                  <a:pt x="2071564" y="1039976"/>
                </a:lnTo>
                <a:lnTo>
                  <a:pt x="0" y="1039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10006043" y="2567985"/>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MODUL</a:t>
            </a:r>
          </a:p>
        </p:txBody>
      </p:sp>
      <p:sp>
        <p:nvSpPr>
          <p:cNvPr name="TextBox 15" id="15"/>
          <p:cNvSpPr txBox="true"/>
          <p:nvPr/>
        </p:nvSpPr>
        <p:spPr>
          <a:xfrm rot="0">
            <a:off x="10006043" y="4217726"/>
            <a:ext cx="5182278" cy="2276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Modul Login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Modul Pendaftaran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Modul Poli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Modul Dokter</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Modul Antrian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Modul Admin</a:t>
            </a:r>
          </a:p>
        </p:txBody>
      </p:sp>
      <p:sp>
        <p:nvSpPr>
          <p:cNvPr name="TextBox 16" id="16"/>
          <p:cNvSpPr txBox="true"/>
          <p:nvPr/>
        </p:nvSpPr>
        <p:spPr>
          <a:xfrm rot="0">
            <a:off x="10113892" y="711238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02</a:t>
            </a:r>
          </a:p>
        </p:txBody>
      </p:sp>
      <p:grpSp>
        <p:nvGrpSpPr>
          <p:cNvPr name="Group 17" id="17"/>
          <p:cNvGrpSpPr>
            <a:grpSpLocks noChangeAspect="true"/>
          </p:cNvGrpSpPr>
          <p:nvPr/>
        </p:nvGrpSpPr>
        <p:grpSpPr>
          <a:xfrm rot="0">
            <a:off x="997589" y="1436866"/>
            <a:ext cx="5755971" cy="8222816"/>
            <a:chOff x="0" y="0"/>
            <a:chExt cx="4445000" cy="6350000"/>
          </a:xfrm>
        </p:grpSpPr>
        <p:sp>
          <p:nvSpPr>
            <p:cNvPr name="Freeform 18" id="18"/>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08980" y="0"/>
            <a:ext cx="8179020" cy="10287000"/>
            <a:chOff x="0" y="0"/>
            <a:chExt cx="2154145" cy="2709333"/>
          </a:xfrm>
        </p:grpSpPr>
        <p:sp>
          <p:nvSpPr>
            <p:cNvPr name="Freeform 4" id="4"/>
            <p:cNvSpPr/>
            <p:nvPr/>
          </p:nvSpPr>
          <p:spPr>
            <a:xfrm flipH="false" flipV="false" rot="0">
              <a:off x="0" y="0"/>
              <a:ext cx="2154145" cy="2709333"/>
            </a:xfrm>
            <a:custGeom>
              <a:avLst/>
              <a:gdLst/>
              <a:ahLst/>
              <a:cxnLst/>
              <a:rect r="r" b="b" t="t" l="l"/>
              <a:pathLst>
                <a:path h="2709333" w="2154145">
                  <a:moveTo>
                    <a:pt x="0" y="0"/>
                  </a:moveTo>
                  <a:lnTo>
                    <a:pt x="2154145" y="0"/>
                  </a:lnTo>
                  <a:lnTo>
                    <a:pt x="2154145" y="2709333"/>
                  </a:lnTo>
                  <a:lnTo>
                    <a:pt x="0" y="2709333"/>
                  </a:lnTo>
                  <a:close/>
                </a:path>
              </a:pathLst>
            </a:custGeom>
            <a:solidFill>
              <a:srgbClr val="37A3FE"/>
            </a:solidFill>
          </p:spPr>
        </p:sp>
        <p:sp>
          <p:nvSpPr>
            <p:cNvPr name="TextBox 5" id="5"/>
            <p:cNvSpPr txBox="true"/>
            <p:nvPr/>
          </p:nvSpPr>
          <p:spPr>
            <a:xfrm>
              <a:off x="0" y="-9525"/>
              <a:ext cx="2154145"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0390187" y="1365991"/>
            <a:ext cx="7600393" cy="7555018"/>
          </a:xfrm>
          <a:custGeom>
            <a:avLst/>
            <a:gdLst/>
            <a:ahLst/>
            <a:cxnLst/>
            <a:rect r="r" b="b" t="t" l="l"/>
            <a:pathLst>
              <a:path h="7555018" w="7600393">
                <a:moveTo>
                  <a:pt x="0" y="0"/>
                </a:moveTo>
                <a:lnTo>
                  <a:pt x="7600393" y="0"/>
                </a:lnTo>
                <a:lnTo>
                  <a:pt x="7600393" y="7555018"/>
                </a:lnTo>
                <a:lnTo>
                  <a:pt x="0" y="7555018"/>
                </a:lnTo>
                <a:lnTo>
                  <a:pt x="0" y="0"/>
                </a:lnTo>
                <a:close/>
              </a:path>
            </a:pathLst>
          </a:custGeom>
          <a:blipFill>
            <a:blip r:embed="rId12"/>
            <a:stretch>
              <a:fillRect l="-3041" t="0" r="-360" b="-945"/>
            </a:stretch>
          </a:blipFill>
        </p:spPr>
      </p:sp>
      <p:sp>
        <p:nvSpPr>
          <p:cNvPr name="TextBox 17" id="17"/>
          <p:cNvSpPr txBox="true"/>
          <p:nvPr/>
        </p:nvSpPr>
        <p:spPr>
          <a:xfrm rot="0">
            <a:off x="2559799" y="1189059"/>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PERANCANGAN RINCI</a:t>
            </a:r>
          </a:p>
        </p:txBody>
      </p:sp>
      <p:sp>
        <p:nvSpPr>
          <p:cNvPr name="TextBox 18" id="18"/>
          <p:cNvSpPr txBox="true"/>
          <p:nvPr/>
        </p:nvSpPr>
        <p:spPr>
          <a:xfrm rot="0">
            <a:off x="2348058" y="4795385"/>
            <a:ext cx="6795942" cy="1514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Diagram Konteks adalah diagram level tertinggi pada DFD yang menggambarkan sistem sebagai satu proses tunggal dan menunjukkan hubungan sistem dengan entitas luar.</a:t>
            </a:r>
          </a:p>
        </p:txBody>
      </p:sp>
      <p:sp>
        <p:nvSpPr>
          <p:cNvPr name="TextBox 19" id="19"/>
          <p:cNvSpPr txBox="true"/>
          <p:nvPr/>
        </p:nvSpPr>
        <p:spPr>
          <a:xfrm rot="0">
            <a:off x="2559799" y="3044461"/>
            <a:ext cx="7549182"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Diagram Konteks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83556" y="0"/>
            <a:ext cx="7804444" cy="10287000"/>
            <a:chOff x="0" y="0"/>
            <a:chExt cx="2055491" cy="2709333"/>
          </a:xfrm>
        </p:grpSpPr>
        <p:sp>
          <p:nvSpPr>
            <p:cNvPr name="Freeform 4" id="4"/>
            <p:cNvSpPr/>
            <p:nvPr/>
          </p:nvSpPr>
          <p:spPr>
            <a:xfrm flipH="false" flipV="false" rot="0">
              <a:off x="0" y="0"/>
              <a:ext cx="2055491" cy="2709333"/>
            </a:xfrm>
            <a:custGeom>
              <a:avLst/>
              <a:gdLst/>
              <a:ahLst/>
              <a:cxnLst/>
              <a:rect r="r" b="b" t="t" l="l"/>
              <a:pathLst>
                <a:path h="2709333" w="2055491">
                  <a:moveTo>
                    <a:pt x="0" y="0"/>
                  </a:moveTo>
                  <a:lnTo>
                    <a:pt x="2055491" y="0"/>
                  </a:lnTo>
                  <a:lnTo>
                    <a:pt x="2055491" y="2709333"/>
                  </a:lnTo>
                  <a:lnTo>
                    <a:pt x="0" y="2709333"/>
                  </a:lnTo>
                  <a:close/>
                </a:path>
              </a:pathLst>
            </a:custGeom>
            <a:solidFill>
              <a:srgbClr val="37A3FE"/>
            </a:solidFill>
          </p:spPr>
        </p:sp>
        <p:sp>
          <p:nvSpPr>
            <p:cNvPr name="TextBox 5" id="5"/>
            <p:cNvSpPr txBox="true"/>
            <p:nvPr/>
          </p:nvSpPr>
          <p:spPr>
            <a:xfrm>
              <a:off x="0" y="-9525"/>
              <a:ext cx="2055491"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0866642" y="517900"/>
            <a:ext cx="7038272" cy="9286580"/>
          </a:xfrm>
          <a:custGeom>
            <a:avLst/>
            <a:gdLst/>
            <a:ahLst/>
            <a:cxnLst/>
            <a:rect r="r" b="b" t="t" l="l"/>
            <a:pathLst>
              <a:path h="9286580" w="7038272">
                <a:moveTo>
                  <a:pt x="0" y="0"/>
                </a:moveTo>
                <a:lnTo>
                  <a:pt x="7038272" y="0"/>
                </a:lnTo>
                <a:lnTo>
                  <a:pt x="7038272" y="9286580"/>
                </a:lnTo>
                <a:lnTo>
                  <a:pt x="0" y="9286580"/>
                </a:lnTo>
                <a:lnTo>
                  <a:pt x="0" y="0"/>
                </a:lnTo>
                <a:close/>
              </a:path>
            </a:pathLst>
          </a:custGeom>
          <a:blipFill>
            <a:blip r:embed="rId12"/>
            <a:stretch>
              <a:fillRect l="0" t="-2034" r="-9123" b="-2034"/>
            </a:stretch>
          </a:blipFill>
        </p:spPr>
      </p:sp>
      <p:sp>
        <p:nvSpPr>
          <p:cNvPr name="TextBox 17" id="17"/>
          <p:cNvSpPr txBox="true"/>
          <p:nvPr/>
        </p:nvSpPr>
        <p:spPr>
          <a:xfrm rot="0">
            <a:off x="2559799" y="1189059"/>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PERANCANGAN RINCI</a:t>
            </a:r>
          </a:p>
        </p:txBody>
      </p:sp>
      <p:sp>
        <p:nvSpPr>
          <p:cNvPr name="TextBox 18" id="18"/>
          <p:cNvSpPr txBox="true"/>
          <p:nvPr/>
        </p:nvSpPr>
        <p:spPr>
          <a:xfrm rot="0">
            <a:off x="2348058" y="4857342"/>
            <a:ext cx="6795942"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DFD Level 0 adalah diagram yang menguraikan sistem menjadi beberapa proses utama, tetapi masih dalam bentuk gambaran global</a:t>
            </a:r>
          </a:p>
        </p:txBody>
      </p:sp>
      <p:sp>
        <p:nvSpPr>
          <p:cNvPr name="TextBox 19" id="19"/>
          <p:cNvSpPr txBox="true"/>
          <p:nvPr/>
        </p:nvSpPr>
        <p:spPr>
          <a:xfrm rot="0">
            <a:off x="2559799" y="3044461"/>
            <a:ext cx="7549182"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DFD Level 0</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08980" y="0"/>
            <a:ext cx="8179020" cy="10287000"/>
            <a:chOff x="0" y="0"/>
            <a:chExt cx="2154145" cy="2709333"/>
          </a:xfrm>
        </p:grpSpPr>
        <p:sp>
          <p:nvSpPr>
            <p:cNvPr name="Freeform 4" id="4"/>
            <p:cNvSpPr/>
            <p:nvPr/>
          </p:nvSpPr>
          <p:spPr>
            <a:xfrm flipH="false" flipV="false" rot="0">
              <a:off x="0" y="0"/>
              <a:ext cx="2154145" cy="2709333"/>
            </a:xfrm>
            <a:custGeom>
              <a:avLst/>
              <a:gdLst/>
              <a:ahLst/>
              <a:cxnLst/>
              <a:rect r="r" b="b" t="t" l="l"/>
              <a:pathLst>
                <a:path h="2709333" w="2154145">
                  <a:moveTo>
                    <a:pt x="0" y="0"/>
                  </a:moveTo>
                  <a:lnTo>
                    <a:pt x="2154145" y="0"/>
                  </a:lnTo>
                  <a:lnTo>
                    <a:pt x="2154145" y="2709333"/>
                  </a:lnTo>
                  <a:lnTo>
                    <a:pt x="0" y="2709333"/>
                  </a:lnTo>
                  <a:close/>
                </a:path>
              </a:pathLst>
            </a:custGeom>
            <a:solidFill>
              <a:srgbClr val="37A3FE"/>
            </a:solidFill>
          </p:spPr>
        </p:sp>
        <p:sp>
          <p:nvSpPr>
            <p:cNvPr name="TextBox 5" id="5"/>
            <p:cNvSpPr txBox="true"/>
            <p:nvPr/>
          </p:nvSpPr>
          <p:spPr>
            <a:xfrm>
              <a:off x="0" y="-9525"/>
              <a:ext cx="2154145"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0108980" y="1533333"/>
            <a:ext cx="7908379" cy="7220333"/>
          </a:xfrm>
          <a:custGeom>
            <a:avLst/>
            <a:gdLst/>
            <a:ahLst/>
            <a:cxnLst/>
            <a:rect r="r" b="b" t="t" l="l"/>
            <a:pathLst>
              <a:path h="7220333" w="7908379">
                <a:moveTo>
                  <a:pt x="0" y="0"/>
                </a:moveTo>
                <a:lnTo>
                  <a:pt x="7908379" y="0"/>
                </a:lnTo>
                <a:lnTo>
                  <a:pt x="7908379" y="7220334"/>
                </a:lnTo>
                <a:lnTo>
                  <a:pt x="0" y="7220334"/>
                </a:lnTo>
                <a:lnTo>
                  <a:pt x="0" y="0"/>
                </a:lnTo>
                <a:close/>
              </a:path>
            </a:pathLst>
          </a:custGeom>
          <a:blipFill>
            <a:blip r:embed="rId12"/>
            <a:stretch>
              <a:fillRect l="0" t="0" r="0" b="0"/>
            </a:stretch>
          </a:blipFill>
        </p:spPr>
      </p:sp>
      <p:sp>
        <p:nvSpPr>
          <p:cNvPr name="TextBox 17" id="17"/>
          <p:cNvSpPr txBox="true"/>
          <p:nvPr/>
        </p:nvSpPr>
        <p:spPr>
          <a:xfrm rot="0">
            <a:off x="2559799" y="1189059"/>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PERANCANGAN RINCI</a:t>
            </a:r>
          </a:p>
        </p:txBody>
      </p:sp>
      <p:sp>
        <p:nvSpPr>
          <p:cNvPr name="TextBox 18" id="18"/>
          <p:cNvSpPr txBox="true"/>
          <p:nvPr/>
        </p:nvSpPr>
        <p:spPr>
          <a:xfrm rot="0">
            <a:off x="2348058" y="4795385"/>
            <a:ext cx="6795942" cy="2657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Diagram Level 1 Rinci 1.0 adalah diagram yang menjelaskan secara detail proses login dan pembuatan akun pasien pada sistem pelayanan rumah sakit SISRG. Diagram ini menunjukkan bagaimana data login atau data registrasi dikirim oleh pasien, divalidasi oleh sistem, kemudian disimpan atau diambil dari data pasien.</a:t>
            </a:r>
          </a:p>
        </p:txBody>
      </p:sp>
      <p:sp>
        <p:nvSpPr>
          <p:cNvPr name="TextBox 19" id="19"/>
          <p:cNvSpPr txBox="true"/>
          <p:nvPr/>
        </p:nvSpPr>
        <p:spPr>
          <a:xfrm rot="0">
            <a:off x="2559799" y="3044461"/>
            <a:ext cx="7549182"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DFD Level 1 (rinci 1.0)</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08980" y="0"/>
            <a:ext cx="8179020" cy="10287000"/>
            <a:chOff x="0" y="0"/>
            <a:chExt cx="2154145" cy="2709333"/>
          </a:xfrm>
        </p:grpSpPr>
        <p:sp>
          <p:nvSpPr>
            <p:cNvPr name="Freeform 4" id="4"/>
            <p:cNvSpPr/>
            <p:nvPr/>
          </p:nvSpPr>
          <p:spPr>
            <a:xfrm flipH="false" flipV="false" rot="0">
              <a:off x="0" y="0"/>
              <a:ext cx="2154145" cy="2709333"/>
            </a:xfrm>
            <a:custGeom>
              <a:avLst/>
              <a:gdLst/>
              <a:ahLst/>
              <a:cxnLst/>
              <a:rect r="r" b="b" t="t" l="l"/>
              <a:pathLst>
                <a:path h="2709333" w="2154145">
                  <a:moveTo>
                    <a:pt x="0" y="0"/>
                  </a:moveTo>
                  <a:lnTo>
                    <a:pt x="2154145" y="0"/>
                  </a:lnTo>
                  <a:lnTo>
                    <a:pt x="2154145" y="2709333"/>
                  </a:lnTo>
                  <a:lnTo>
                    <a:pt x="0" y="2709333"/>
                  </a:lnTo>
                  <a:close/>
                </a:path>
              </a:pathLst>
            </a:custGeom>
            <a:solidFill>
              <a:srgbClr val="37A3FE"/>
            </a:solidFill>
          </p:spPr>
        </p:sp>
        <p:sp>
          <p:nvSpPr>
            <p:cNvPr name="TextBox 5" id="5"/>
            <p:cNvSpPr txBox="true"/>
            <p:nvPr/>
          </p:nvSpPr>
          <p:spPr>
            <a:xfrm>
              <a:off x="0" y="-9525"/>
              <a:ext cx="2154145"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0108980" y="1008003"/>
            <a:ext cx="8258693" cy="7708113"/>
          </a:xfrm>
          <a:custGeom>
            <a:avLst/>
            <a:gdLst/>
            <a:ahLst/>
            <a:cxnLst/>
            <a:rect r="r" b="b" t="t" l="l"/>
            <a:pathLst>
              <a:path h="7708113" w="8258693">
                <a:moveTo>
                  <a:pt x="0" y="0"/>
                </a:moveTo>
                <a:lnTo>
                  <a:pt x="8258693" y="0"/>
                </a:lnTo>
                <a:lnTo>
                  <a:pt x="8258693" y="7708113"/>
                </a:lnTo>
                <a:lnTo>
                  <a:pt x="0" y="7708113"/>
                </a:lnTo>
                <a:lnTo>
                  <a:pt x="0" y="0"/>
                </a:lnTo>
                <a:close/>
              </a:path>
            </a:pathLst>
          </a:custGeom>
          <a:blipFill>
            <a:blip r:embed="rId12"/>
            <a:stretch>
              <a:fillRect l="0" t="0" r="0" b="0"/>
            </a:stretch>
          </a:blipFill>
        </p:spPr>
      </p:sp>
      <p:sp>
        <p:nvSpPr>
          <p:cNvPr name="TextBox 17" id="17"/>
          <p:cNvSpPr txBox="true"/>
          <p:nvPr/>
        </p:nvSpPr>
        <p:spPr>
          <a:xfrm rot="0">
            <a:off x="2559799" y="1189059"/>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PERANCANGAN RINCI</a:t>
            </a:r>
          </a:p>
        </p:txBody>
      </p:sp>
      <p:sp>
        <p:nvSpPr>
          <p:cNvPr name="TextBox 18" id="18"/>
          <p:cNvSpPr txBox="true"/>
          <p:nvPr/>
        </p:nvSpPr>
        <p:spPr>
          <a:xfrm rot="0">
            <a:off x="2348058" y="4795385"/>
            <a:ext cx="6795942" cy="1895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Diagram Level 1 Rinci 2.0 adalah diagram yang menggambarkan proses pendaftaran berobat pasien secara rinci, mulai dari pemilihan poli, dokter, dan jadwal hingga data pendaftaran disimpan dan dikirim ke admin untuk diverifikasi.</a:t>
            </a:r>
          </a:p>
        </p:txBody>
      </p:sp>
      <p:sp>
        <p:nvSpPr>
          <p:cNvPr name="TextBox 19" id="19"/>
          <p:cNvSpPr txBox="true"/>
          <p:nvPr/>
        </p:nvSpPr>
        <p:spPr>
          <a:xfrm rot="0">
            <a:off x="2559799" y="3044461"/>
            <a:ext cx="7549182"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DFD Level 1 (rinci 2.0)</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37680" y="0"/>
            <a:ext cx="7150320" cy="10287000"/>
            <a:chOff x="0" y="0"/>
            <a:chExt cx="1883212" cy="2709333"/>
          </a:xfrm>
        </p:grpSpPr>
        <p:sp>
          <p:nvSpPr>
            <p:cNvPr name="Freeform 4" id="4"/>
            <p:cNvSpPr/>
            <p:nvPr/>
          </p:nvSpPr>
          <p:spPr>
            <a:xfrm flipH="false" flipV="false" rot="0">
              <a:off x="0" y="0"/>
              <a:ext cx="1883212" cy="2709333"/>
            </a:xfrm>
            <a:custGeom>
              <a:avLst/>
              <a:gdLst/>
              <a:ahLst/>
              <a:cxnLst/>
              <a:rect r="r" b="b" t="t" l="l"/>
              <a:pathLst>
                <a:path h="2709333" w="1883212">
                  <a:moveTo>
                    <a:pt x="0" y="0"/>
                  </a:moveTo>
                  <a:lnTo>
                    <a:pt x="1883212" y="0"/>
                  </a:lnTo>
                  <a:lnTo>
                    <a:pt x="1883212" y="2709333"/>
                  </a:lnTo>
                  <a:lnTo>
                    <a:pt x="0" y="2709333"/>
                  </a:lnTo>
                  <a:close/>
                </a:path>
              </a:pathLst>
            </a:custGeom>
            <a:solidFill>
              <a:srgbClr val="37A3FE"/>
            </a:solidFill>
          </p:spPr>
        </p:sp>
        <p:sp>
          <p:nvSpPr>
            <p:cNvPr name="TextBox 5" id="5"/>
            <p:cNvSpPr txBox="true"/>
            <p:nvPr/>
          </p:nvSpPr>
          <p:spPr>
            <a:xfrm>
              <a:off x="0" y="-9525"/>
              <a:ext cx="1883212"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90383" y="460078"/>
            <a:ext cx="2327502" cy="23275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13" id="13"/>
          <p:cNvSpPr/>
          <p:nvPr/>
        </p:nvSpPr>
        <p:spPr>
          <a:xfrm flipH="false" flipV="false" rot="-5400000">
            <a:off x="15022582" y="1989306"/>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080683" y="9206317"/>
            <a:ext cx="2161366" cy="1080683"/>
          </a:xfrm>
          <a:custGeom>
            <a:avLst/>
            <a:gdLst/>
            <a:ahLst/>
            <a:cxnLst/>
            <a:rect r="r" b="b" t="t" l="l"/>
            <a:pathLst>
              <a:path h="1080683" w="2161366">
                <a:moveTo>
                  <a:pt x="2161366" y="1080683"/>
                </a:moveTo>
                <a:lnTo>
                  <a:pt x="0" y="1080683"/>
                </a:lnTo>
                <a:lnTo>
                  <a:pt x="0" y="0"/>
                </a:lnTo>
                <a:lnTo>
                  <a:pt x="2161366" y="0"/>
                </a:lnTo>
                <a:lnTo>
                  <a:pt x="2161366" y="108068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2921038" y="392662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1301596" y="759289"/>
            <a:ext cx="6822488" cy="8281743"/>
          </a:xfrm>
          <a:custGeom>
            <a:avLst/>
            <a:gdLst/>
            <a:ahLst/>
            <a:cxnLst/>
            <a:rect r="r" b="b" t="t" l="l"/>
            <a:pathLst>
              <a:path h="8281743" w="6822488">
                <a:moveTo>
                  <a:pt x="0" y="0"/>
                </a:moveTo>
                <a:lnTo>
                  <a:pt x="6822488" y="0"/>
                </a:lnTo>
                <a:lnTo>
                  <a:pt x="6822488" y="8281743"/>
                </a:lnTo>
                <a:lnTo>
                  <a:pt x="0" y="8281743"/>
                </a:lnTo>
                <a:lnTo>
                  <a:pt x="0" y="0"/>
                </a:lnTo>
                <a:close/>
              </a:path>
            </a:pathLst>
          </a:custGeom>
          <a:blipFill>
            <a:blip r:embed="rId12"/>
            <a:stretch>
              <a:fillRect l="0" t="0" r="0" b="0"/>
            </a:stretch>
          </a:blipFill>
        </p:spPr>
      </p:sp>
      <p:sp>
        <p:nvSpPr>
          <p:cNvPr name="TextBox 17" id="17"/>
          <p:cNvSpPr txBox="true"/>
          <p:nvPr/>
        </p:nvSpPr>
        <p:spPr>
          <a:xfrm rot="0">
            <a:off x="2559799" y="1189059"/>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DESKRIPSI PERANCANGAN RINCI</a:t>
            </a:r>
          </a:p>
        </p:txBody>
      </p:sp>
      <p:sp>
        <p:nvSpPr>
          <p:cNvPr name="TextBox 18" id="18"/>
          <p:cNvSpPr txBox="true"/>
          <p:nvPr/>
        </p:nvSpPr>
        <p:spPr>
          <a:xfrm rot="0">
            <a:off x="2348058" y="4462010"/>
            <a:ext cx="6795942" cy="1895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Diagram Level 1 Rinci 3.0 adalah diagram yang menjelaskan proses pengelolaan antrian pasien secara detail, mulai dari pembuatan nomor antrian, penyimpanan data antrian, hingga perubahan status antrian oleh admin.</a:t>
            </a:r>
          </a:p>
        </p:txBody>
      </p:sp>
      <p:sp>
        <p:nvSpPr>
          <p:cNvPr name="TextBox 19" id="19"/>
          <p:cNvSpPr txBox="true"/>
          <p:nvPr/>
        </p:nvSpPr>
        <p:spPr>
          <a:xfrm rot="0">
            <a:off x="2559799" y="3044461"/>
            <a:ext cx="7549182" cy="450850"/>
          </a:xfrm>
          <a:prstGeom prst="rect">
            <a:avLst/>
          </a:prstGeom>
        </p:spPr>
        <p:txBody>
          <a:bodyPr anchor="t" rtlCol="false" tIns="0" lIns="0" bIns="0" rIns="0">
            <a:spAutoFit/>
          </a:bodyPr>
          <a:lstStyle/>
          <a:p>
            <a:pPr algn="l">
              <a:lnSpc>
                <a:spcPts val="3500"/>
              </a:lnSpc>
            </a:pPr>
            <a:r>
              <a:rPr lang="en-US" sz="2500" b="true">
                <a:solidFill>
                  <a:srgbClr val="000000"/>
                </a:solidFill>
                <a:latin typeface="Poppins Bold"/>
                <a:ea typeface="Poppins Bold"/>
                <a:cs typeface="Poppins Bold"/>
                <a:sym typeface="Poppins Bold"/>
              </a:rPr>
              <a:t>DFD Level 1 (rinci 3.0)</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713120" y="9258300"/>
            <a:ext cx="546180" cy="54618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6" id="6"/>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93304" y="4284401"/>
            <a:ext cx="11040159" cy="110401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5400000">
            <a:off x="7825319" y="1483990"/>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0407078" y="3288035"/>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7252218" y="1035484"/>
            <a:ext cx="2071565" cy="1039976"/>
          </a:xfrm>
          <a:custGeom>
            <a:avLst/>
            <a:gdLst/>
            <a:ahLst/>
            <a:cxnLst/>
            <a:rect r="r" b="b" t="t" l="l"/>
            <a:pathLst>
              <a:path h="1039976" w="2071565">
                <a:moveTo>
                  <a:pt x="0" y="0"/>
                </a:moveTo>
                <a:lnTo>
                  <a:pt x="2071564" y="0"/>
                </a:lnTo>
                <a:lnTo>
                  <a:pt x="2071564" y="1039976"/>
                </a:lnTo>
                <a:lnTo>
                  <a:pt x="0" y="1039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89331" y="4284401"/>
            <a:ext cx="10287570" cy="5722348"/>
          </a:xfrm>
          <a:custGeom>
            <a:avLst/>
            <a:gdLst/>
            <a:ahLst/>
            <a:cxnLst/>
            <a:rect r="r" b="b" t="t" l="l"/>
            <a:pathLst>
              <a:path h="5722348" w="10287570">
                <a:moveTo>
                  <a:pt x="0" y="0"/>
                </a:moveTo>
                <a:lnTo>
                  <a:pt x="10287570" y="0"/>
                </a:lnTo>
                <a:lnTo>
                  <a:pt x="10287570" y="5722347"/>
                </a:lnTo>
                <a:lnTo>
                  <a:pt x="0" y="5722347"/>
                </a:lnTo>
                <a:lnTo>
                  <a:pt x="0" y="0"/>
                </a:lnTo>
                <a:close/>
              </a:path>
            </a:pathLst>
          </a:custGeom>
          <a:blipFill>
            <a:blip r:embed="rId14"/>
            <a:stretch>
              <a:fillRect l="0" t="0" r="0" b="0"/>
            </a:stretch>
          </a:blipFill>
        </p:spPr>
      </p:sp>
      <p:sp>
        <p:nvSpPr>
          <p:cNvPr name="TextBox 15" id="15"/>
          <p:cNvSpPr txBox="true"/>
          <p:nvPr/>
        </p:nvSpPr>
        <p:spPr>
          <a:xfrm rot="0">
            <a:off x="10006043" y="2005746"/>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LOGIKA STRUKTUR DATA </a:t>
            </a:r>
          </a:p>
        </p:txBody>
      </p:sp>
      <p:sp>
        <p:nvSpPr>
          <p:cNvPr name="TextBox 16" id="16"/>
          <p:cNvSpPr txBox="true"/>
          <p:nvPr/>
        </p:nvSpPr>
        <p:spPr>
          <a:xfrm rot="0">
            <a:off x="11399049" y="5183010"/>
            <a:ext cx="5182278"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Penjelasan ulang tabel dalam bentuk logis</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Menjadi dasar ERD &amp; database</a:t>
            </a:r>
          </a:p>
        </p:txBody>
      </p:sp>
      <p:sp>
        <p:nvSpPr>
          <p:cNvPr name="TextBox 17" id="17"/>
          <p:cNvSpPr txBox="true"/>
          <p:nvPr/>
        </p:nvSpPr>
        <p:spPr>
          <a:xfrm rot="0">
            <a:off x="10113892" y="7112383"/>
            <a:ext cx="726018" cy="409508"/>
          </a:xfrm>
          <a:prstGeom prst="rect">
            <a:avLst/>
          </a:prstGeom>
        </p:spPr>
        <p:txBody>
          <a:bodyPr anchor="t" rtlCol="false" tIns="0" lIns="0" bIns="0" rIns="0">
            <a:spAutoFit/>
          </a:bodyPr>
          <a:lstStyle/>
          <a:p>
            <a:pPr algn="ctr">
              <a:lnSpc>
                <a:spcPts val="2999"/>
              </a:lnSpc>
            </a:pPr>
            <a:r>
              <a:rPr lang="en-US" sz="2999" b="true">
                <a:solidFill>
                  <a:srgbClr val="FFFFFF"/>
                </a:solidFill>
                <a:latin typeface="Poppins Bold"/>
                <a:ea typeface="Poppins Bold"/>
                <a:cs typeface="Poppins Bold"/>
                <a:sym typeface="Poppins Bold"/>
              </a:rPr>
              <a:t>02</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87553" y="2600947"/>
            <a:ext cx="2982219" cy="6483730"/>
          </a:xfrm>
          <a:custGeom>
            <a:avLst/>
            <a:gdLst/>
            <a:ahLst/>
            <a:cxnLst/>
            <a:rect r="r" b="b" t="t" l="l"/>
            <a:pathLst>
              <a:path h="6483730" w="2982219">
                <a:moveTo>
                  <a:pt x="0" y="0"/>
                </a:moveTo>
                <a:lnTo>
                  <a:pt x="2982219" y="0"/>
                </a:lnTo>
                <a:lnTo>
                  <a:pt x="2982219" y="6483730"/>
                </a:lnTo>
                <a:lnTo>
                  <a:pt x="0" y="6483730"/>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646836"/>
            <a:ext cx="7163783" cy="1895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Input email/HP</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Input password</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Validasi login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Lupa password</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Registrasi akun</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Login Pasien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6562" y="2600947"/>
            <a:ext cx="2924201" cy="6356958"/>
          </a:xfrm>
          <a:custGeom>
            <a:avLst/>
            <a:gdLst/>
            <a:ahLst/>
            <a:cxnLst/>
            <a:rect r="r" b="b" t="t" l="l"/>
            <a:pathLst>
              <a:path h="6356958" w="2924201">
                <a:moveTo>
                  <a:pt x="0" y="0"/>
                </a:moveTo>
                <a:lnTo>
                  <a:pt x="2924201" y="0"/>
                </a:lnTo>
                <a:lnTo>
                  <a:pt x="2924201" y="6356958"/>
                </a:lnTo>
                <a:lnTo>
                  <a:pt x="0" y="6356958"/>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645952"/>
            <a:ext cx="7163783"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Menampilkan data poli &amp; dokter</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Menentukan tanggal berobat</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Mengirim data ke sistem</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Pendaftaran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556184" y="2774570"/>
            <a:ext cx="2982219" cy="6483730"/>
          </a:xfrm>
          <a:custGeom>
            <a:avLst/>
            <a:gdLst/>
            <a:ahLst/>
            <a:cxnLst/>
            <a:rect r="r" b="b" t="t" l="l"/>
            <a:pathLst>
              <a:path h="6483730" w="2982219">
                <a:moveTo>
                  <a:pt x="0" y="0"/>
                </a:moveTo>
                <a:lnTo>
                  <a:pt x="2982219" y="0"/>
                </a:lnTo>
                <a:lnTo>
                  <a:pt x="2982219" y="6483730"/>
                </a:lnTo>
                <a:lnTo>
                  <a:pt x="0" y="6483730"/>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63938" y="4733925"/>
            <a:ext cx="7163783" cy="752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Melihat daftar poli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Melihat detail poli</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Poli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14202" y="2901342"/>
            <a:ext cx="2924201" cy="6356958"/>
          </a:xfrm>
          <a:custGeom>
            <a:avLst/>
            <a:gdLst/>
            <a:ahLst/>
            <a:cxnLst/>
            <a:rect r="r" b="b" t="t" l="l"/>
            <a:pathLst>
              <a:path h="6356958" w="2924201">
                <a:moveTo>
                  <a:pt x="0" y="0"/>
                </a:moveTo>
                <a:lnTo>
                  <a:pt x="2924201" y="0"/>
                </a:lnTo>
                <a:lnTo>
                  <a:pt x="2924201" y="6356958"/>
                </a:lnTo>
                <a:lnTo>
                  <a:pt x="0" y="6356958"/>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543425"/>
            <a:ext cx="7163783"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Menampilkan ringkasan pendaftaran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Konfirmasi atau batal</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Menyimpan pendaftaran final</a:t>
            </a:r>
          </a:p>
        </p:txBody>
      </p:sp>
      <p:sp>
        <p:nvSpPr>
          <p:cNvPr name="TextBox 16" id="16"/>
          <p:cNvSpPr txBox="true"/>
          <p:nvPr/>
        </p:nvSpPr>
        <p:spPr>
          <a:xfrm rot="0">
            <a:off x="9144000"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Konfirmasi Pendaftaran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6562" y="2518271"/>
            <a:ext cx="2924201" cy="6356958"/>
          </a:xfrm>
          <a:custGeom>
            <a:avLst/>
            <a:gdLst/>
            <a:ahLst/>
            <a:cxnLst/>
            <a:rect r="r" b="b" t="t" l="l"/>
            <a:pathLst>
              <a:path h="6356958" w="2924201">
                <a:moveTo>
                  <a:pt x="0" y="0"/>
                </a:moveTo>
                <a:lnTo>
                  <a:pt x="2924201" y="0"/>
                </a:lnTo>
                <a:lnTo>
                  <a:pt x="2924201" y="6356958"/>
                </a:lnTo>
                <a:lnTo>
                  <a:pt x="0" y="6356958"/>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399186"/>
            <a:ext cx="7163783"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Menampilkan nomor antrian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Status antrian (menunggu/dipanggil/selesai)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Update real-time</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Antrian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6562" y="2518271"/>
            <a:ext cx="2924201" cy="6356958"/>
          </a:xfrm>
          <a:custGeom>
            <a:avLst/>
            <a:gdLst/>
            <a:ahLst/>
            <a:cxnLst/>
            <a:rect r="r" b="b" t="t" l="l"/>
            <a:pathLst>
              <a:path h="6356958" w="2924201">
                <a:moveTo>
                  <a:pt x="0" y="0"/>
                </a:moveTo>
                <a:lnTo>
                  <a:pt x="2924201" y="0"/>
                </a:lnTo>
                <a:lnTo>
                  <a:pt x="2924201" y="6356958"/>
                </a:lnTo>
                <a:lnTo>
                  <a:pt x="0" y="6356958"/>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203734" y="4646836"/>
            <a:ext cx="7163783" cy="752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Login admin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Dashboard admin</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admin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16562" y="2715326"/>
            <a:ext cx="2924201" cy="6356958"/>
          </a:xfrm>
          <a:custGeom>
            <a:avLst/>
            <a:gdLst/>
            <a:ahLst/>
            <a:cxnLst/>
            <a:rect r="r" b="b" t="t" l="l"/>
            <a:pathLst>
              <a:path h="6356958" w="2924201">
                <a:moveTo>
                  <a:pt x="0" y="0"/>
                </a:moveTo>
                <a:lnTo>
                  <a:pt x="2924201" y="0"/>
                </a:lnTo>
                <a:lnTo>
                  <a:pt x="2924201" y="6356958"/>
                </a:lnTo>
                <a:lnTo>
                  <a:pt x="0" y="6356958"/>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399186"/>
            <a:ext cx="7163783" cy="752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Lihat data pasien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Terima / tolak pendaftaran</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Data Pasien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87553" y="2600947"/>
            <a:ext cx="2982219" cy="6483730"/>
          </a:xfrm>
          <a:custGeom>
            <a:avLst/>
            <a:gdLst/>
            <a:ahLst/>
            <a:cxnLst/>
            <a:rect r="r" b="b" t="t" l="l"/>
            <a:pathLst>
              <a:path h="6483730" w="2982219">
                <a:moveTo>
                  <a:pt x="0" y="0"/>
                </a:moveTo>
                <a:lnTo>
                  <a:pt x="2982219" y="0"/>
                </a:lnTo>
                <a:lnTo>
                  <a:pt x="2982219" y="6483730"/>
                </a:lnTo>
                <a:lnTo>
                  <a:pt x="0" y="6483730"/>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646836"/>
            <a:ext cx="7163783" cy="1514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Kelola poli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Kelola pasien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Kelola dokter</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Kelola antrian</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Dashboard Admin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357324" cy="10287000"/>
            <a:chOff x="0" y="0"/>
            <a:chExt cx="1147608" cy="2709333"/>
          </a:xfrm>
        </p:grpSpPr>
        <p:sp>
          <p:nvSpPr>
            <p:cNvPr name="Freeform 3" id="3"/>
            <p:cNvSpPr/>
            <p:nvPr/>
          </p:nvSpPr>
          <p:spPr>
            <a:xfrm flipH="false" flipV="false" rot="0">
              <a:off x="0" y="0"/>
              <a:ext cx="1147608" cy="2709333"/>
            </a:xfrm>
            <a:custGeom>
              <a:avLst/>
              <a:gdLst/>
              <a:ahLst/>
              <a:cxnLst/>
              <a:rect r="r" b="b" t="t" l="l"/>
              <a:pathLst>
                <a:path h="2709333" w="1147608">
                  <a:moveTo>
                    <a:pt x="0" y="0"/>
                  </a:moveTo>
                  <a:lnTo>
                    <a:pt x="1147608" y="0"/>
                  </a:lnTo>
                  <a:lnTo>
                    <a:pt x="1147608" y="2709333"/>
                  </a:lnTo>
                  <a:lnTo>
                    <a:pt x="0" y="2709333"/>
                  </a:lnTo>
                  <a:close/>
                </a:path>
              </a:pathLst>
            </a:custGeom>
            <a:solidFill>
              <a:srgbClr val="37A3FE"/>
            </a:solidFill>
          </p:spPr>
        </p:sp>
        <p:sp>
          <p:nvSpPr>
            <p:cNvPr name="TextBox 4" id="4"/>
            <p:cNvSpPr txBox="true"/>
            <p:nvPr/>
          </p:nvSpPr>
          <p:spPr>
            <a:xfrm>
              <a:off x="0" y="-9525"/>
              <a:ext cx="1147608" cy="2718858"/>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9564973" y="3238321"/>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3120" y="1035484"/>
            <a:ext cx="3130925" cy="1565463"/>
          </a:xfrm>
          <a:custGeom>
            <a:avLst/>
            <a:gdLst/>
            <a:ahLst/>
            <a:cxnLst/>
            <a:rect r="r" b="b" t="t" l="l"/>
            <a:pathLst>
              <a:path h="1565463" w="3130925">
                <a:moveTo>
                  <a:pt x="0" y="0"/>
                </a:moveTo>
                <a:lnTo>
                  <a:pt x="3130925" y="0"/>
                </a:lnTo>
                <a:lnTo>
                  <a:pt x="3130925" y="1565463"/>
                </a:lnTo>
                <a:lnTo>
                  <a:pt x="0" y="1565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16376974" y="326039"/>
            <a:ext cx="1218471" cy="1418890"/>
          </a:xfrm>
          <a:custGeom>
            <a:avLst/>
            <a:gdLst/>
            <a:ahLst/>
            <a:cxnLst/>
            <a:rect r="r" b="b" t="t" l="l"/>
            <a:pathLst>
              <a:path h="1418890" w="1218471">
                <a:moveTo>
                  <a:pt x="0" y="0"/>
                </a:moveTo>
                <a:lnTo>
                  <a:pt x="1218472" y="0"/>
                </a:lnTo>
                <a:lnTo>
                  <a:pt x="1218472" y="1418890"/>
                </a:lnTo>
                <a:lnTo>
                  <a:pt x="0" y="14188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67904" y="1820223"/>
            <a:ext cx="3421516" cy="7438077"/>
          </a:xfrm>
          <a:custGeom>
            <a:avLst/>
            <a:gdLst/>
            <a:ahLst/>
            <a:cxnLst/>
            <a:rect r="r" b="b" t="t" l="l"/>
            <a:pathLst>
              <a:path h="7438077" w="3421516">
                <a:moveTo>
                  <a:pt x="0" y="0"/>
                </a:moveTo>
                <a:lnTo>
                  <a:pt x="3421516" y="0"/>
                </a:lnTo>
                <a:lnTo>
                  <a:pt x="3421516" y="7438077"/>
                </a:lnTo>
                <a:lnTo>
                  <a:pt x="0" y="7438077"/>
                </a:lnTo>
                <a:lnTo>
                  <a:pt x="0" y="0"/>
                </a:lnTo>
                <a:close/>
              </a:path>
            </a:pathLst>
          </a:custGeom>
          <a:blipFill>
            <a:blip r:embed="rId12"/>
            <a:stretch>
              <a:fillRect l="0" t="0" r="0" b="0"/>
            </a:stretch>
          </a:blipFill>
        </p:spPr>
      </p:sp>
      <p:sp>
        <p:nvSpPr>
          <p:cNvPr name="TextBox 14" id="14"/>
          <p:cNvSpPr txBox="true"/>
          <p:nvPr/>
        </p:nvSpPr>
        <p:spPr>
          <a:xfrm rot="0">
            <a:off x="9163938" y="2518271"/>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MODUL SISTEM</a:t>
            </a:r>
          </a:p>
        </p:txBody>
      </p:sp>
      <p:sp>
        <p:nvSpPr>
          <p:cNvPr name="TextBox 15" id="15"/>
          <p:cNvSpPr txBox="true"/>
          <p:nvPr/>
        </p:nvSpPr>
        <p:spPr>
          <a:xfrm rot="0">
            <a:off x="9112982" y="4543425"/>
            <a:ext cx="7163783" cy="1133474"/>
          </a:xfrm>
          <a:prstGeom prst="rect">
            <a:avLst/>
          </a:prstGeom>
        </p:spPr>
        <p:txBody>
          <a:bodyPr anchor="t" rtlCol="false" tIns="0" lIns="0" bIns="0" rIns="0">
            <a:spAutoFit/>
          </a:bodyPr>
          <a:lstStyle/>
          <a:p>
            <a:pPr algn="l" marL="431805" indent="-215903" lvl="1">
              <a:lnSpc>
                <a:spcPts val="3000"/>
              </a:lnSpc>
              <a:buFont typeface="Arial"/>
              <a:buChar char="•"/>
            </a:pPr>
            <a:r>
              <a:rPr lang="en-US" sz="2000">
                <a:solidFill>
                  <a:srgbClr val="000000"/>
                </a:solidFill>
                <a:latin typeface="Open Sans"/>
                <a:ea typeface="Open Sans"/>
                <a:cs typeface="Open Sans"/>
                <a:sym typeface="Open Sans"/>
              </a:rPr>
              <a:t>Menampilkan nomor antrian</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Status antrian (menunggu/dipanggil/selesai)</a:t>
            </a:r>
          </a:p>
          <a:p>
            <a:pPr algn="l" marL="431805" indent="-215903" lvl="1">
              <a:lnSpc>
                <a:spcPts val="3000"/>
              </a:lnSpc>
              <a:buFont typeface="Arial"/>
              <a:buChar char="•"/>
            </a:pPr>
            <a:r>
              <a:rPr lang="en-US" sz="2000">
                <a:solidFill>
                  <a:srgbClr val="000000"/>
                </a:solidFill>
                <a:latin typeface="Open Sans"/>
                <a:ea typeface="Open Sans"/>
                <a:cs typeface="Open Sans"/>
                <a:sym typeface="Open Sans"/>
              </a:rPr>
              <a:t>Update real-time</a:t>
            </a:r>
          </a:p>
        </p:txBody>
      </p:sp>
      <p:sp>
        <p:nvSpPr>
          <p:cNvPr name="TextBox 16" id="16"/>
          <p:cNvSpPr txBox="true"/>
          <p:nvPr/>
        </p:nvSpPr>
        <p:spPr>
          <a:xfrm rot="0">
            <a:off x="9203734" y="4116611"/>
            <a:ext cx="5962092" cy="349250"/>
          </a:xfrm>
          <a:prstGeom prst="rect">
            <a:avLst/>
          </a:prstGeom>
        </p:spPr>
        <p:txBody>
          <a:bodyPr anchor="t" rtlCol="false" tIns="0" lIns="0" bIns="0" rIns="0">
            <a:spAutoFit/>
          </a:bodyPr>
          <a:lstStyle/>
          <a:p>
            <a:pPr algn="l">
              <a:lnSpc>
                <a:spcPts val="2499"/>
              </a:lnSpc>
            </a:pPr>
            <a:r>
              <a:rPr lang="en-US" sz="2499" b="true">
                <a:solidFill>
                  <a:srgbClr val="000000"/>
                </a:solidFill>
                <a:latin typeface="Poppins Bold"/>
                <a:ea typeface="Poppins Bold"/>
                <a:cs typeface="Poppins Bold"/>
                <a:sym typeface="Poppins Bold"/>
              </a:rPr>
              <a:t>Modul Kelola Antrian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6878" y="1574817"/>
            <a:ext cx="21484652" cy="214846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150450" y="2190673"/>
            <a:ext cx="4033760" cy="4261078"/>
            <a:chOff x="0" y="0"/>
            <a:chExt cx="1062390" cy="1122259"/>
          </a:xfrm>
        </p:grpSpPr>
        <p:sp>
          <p:nvSpPr>
            <p:cNvPr name="Freeform 11" id="11"/>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2" id="12"/>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grpSp>
        <p:nvGrpSpPr>
          <p:cNvPr name="Group 13" id="13"/>
          <p:cNvGrpSpPr/>
          <p:nvPr/>
        </p:nvGrpSpPr>
        <p:grpSpPr>
          <a:xfrm rot="0">
            <a:off x="12679360" y="4244063"/>
            <a:ext cx="4033760" cy="4261078"/>
            <a:chOff x="0" y="0"/>
            <a:chExt cx="1062390" cy="1122259"/>
          </a:xfrm>
        </p:grpSpPr>
        <p:sp>
          <p:nvSpPr>
            <p:cNvPr name="Freeform 14" id="14"/>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5" id="15"/>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sp>
        <p:nvSpPr>
          <p:cNvPr name="Freeform 16" id="16"/>
          <p:cNvSpPr/>
          <p:nvPr/>
        </p:nvSpPr>
        <p:spPr>
          <a:xfrm flipH="false" flipV="false" rot="-5400000">
            <a:off x="2433252" y="6321927"/>
            <a:ext cx="240826" cy="963304"/>
          </a:xfrm>
          <a:custGeom>
            <a:avLst/>
            <a:gdLst/>
            <a:ahLst/>
            <a:cxnLst/>
            <a:rect r="r" b="b" t="t" l="l"/>
            <a:pathLst>
              <a:path h="963304" w="240826">
                <a:moveTo>
                  <a:pt x="0" y="0"/>
                </a:moveTo>
                <a:lnTo>
                  <a:pt x="240825" y="0"/>
                </a:lnTo>
                <a:lnTo>
                  <a:pt x="240825"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true" rot="0">
            <a:off x="-1565463" y="872153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true" rot="0">
            <a:off x="14874217" y="1035484"/>
            <a:ext cx="2385083" cy="2385083"/>
          </a:xfrm>
          <a:custGeom>
            <a:avLst/>
            <a:gdLst/>
            <a:ahLst/>
            <a:cxnLst/>
            <a:rect r="r" b="b" t="t" l="l"/>
            <a:pathLst>
              <a:path h="2385083" w="2385083">
                <a:moveTo>
                  <a:pt x="0" y="2385083"/>
                </a:moveTo>
                <a:lnTo>
                  <a:pt x="2385083" y="2385083"/>
                </a:lnTo>
                <a:lnTo>
                  <a:pt x="2385083" y="0"/>
                </a:lnTo>
                <a:lnTo>
                  <a:pt x="0" y="0"/>
                </a:lnTo>
                <a:lnTo>
                  <a:pt x="0" y="238508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5400000">
            <a:off x="14264982" y="326302"/>
            <a:ext cx="1218471" cy="1418890"/>
          </a:xfrm>
          <a:custGeom>
            <a:avLst/>
            <a:gdLst/>
            <a:ahLst/>
            <a:cxnLst/>
            <a:rect r="r" b="b" t="t" l="l"/>
            <a:pathLst>
              <a:path h="1418890" w="1218471">
                <a:moveTo>
                  <a:pt x="0" y="0"/>
                </a:moveTo>
                <a:lnTo>
                  <a:pt x="1218471" y="0"/>
                </a:lnTo>
                <a:lnTo>
                  <a:pt x="1218471" y="1418890"/>
                </a:lnTo>
                <a:lnTo>
                  <a:pt x="0" y="14188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2032217" y="3266520"/>
            <a:ext cx="5480059" cy="3117850"/>
          </a:xfrm>
          <a:prstGeom prst="rect">
            <a:avLst/>
          </a:prstGeom>
        </p:spPr>
        <p:txBody>
          <a:bodyPr anchor="t" rtlCol="false" tIns="0" lIns="0" bIns="0" rIns="0">
            <a:spAutoFit/>
          </a:bodyPr>
          <a:lstStyle/>
          <a:p>
            <a:pPr algn="l">
              <a:lnSpc>
                <a:spcPts val="6049"/>
              </a:lnSpc>
            </a:pPr>
            <a:r>
              <a:rPr lang="en-US" sz="5499" b="true">
                <a:solidFill>
                  <a:srgbClr val="FFFFFF"/>
                </a:solidFill>
                <a:latin typeface="Poppins Bold"/>
                <a:ea typeface="Poppins Bold"/>
                <a:cs typeface="Poppins Bold"/>
                <a:sym typeface="Poppins Bold"/>
              </a:rPr>
              <a:t>UML</a:t>
            </a:r>
          </a:p>
          <a:p>
            <a:pPr algn="l">
              <a:lnSpc>
                <a:spcPts val="6049"/>
              </a:lnSpc>
            </a:pPr>
            <a:r>
              <a:rPr lang="en-US" b="true" sz="5499">
                <a:solidFill>
                  <a:srgbClr val="FFFFFF"/>
                </a:solidFill>
                <a:latin typeface="Poppins Bold"/>
                <a:ea typeface="Poppins Bold"/>
                <a:cs typeface="Poppins Bold"/>
                <a:sym typeface="Poppins Bold"/>
              </a:rPr>
              <a:t>(UNIFIED MODELING LANGUAGE)</a:t>
            </a:r>
          </a:p>
        </p:txBody>
      </p:sp>
      <p:sp>
        <p:nvSpPr>
          <p:cNvPr name="TextBox 21" id="21"/>
          <p:cNvSpPr txBox="true"/>
          <p:nvPr/>
        </p:nvSpPr>
        <p:spPr>
          <a:xfrm rot="0">
            <a:off x="2032217" y="7371667"/>
            <a:ext cx="9826718" cy="752474"/>
          </a:xfrm>
          <a:prstGeom prst="rect">
            <a:avLst/>
          </a:prstGeom>
        </p:spPr>
        <p:txBody>
          <a:bodyPr anchor="t" rtlCol="false" tIns="0" lIns="0" bIns="0" rIns="0">
            <a:spAutoFit/>
          </a:bodyPr>
          <a:lstStyle/>
          <a:p>
            <a:pPr algn="l">
              <a:lnSpc>
                <a:spcPts val="3000"/>
              </a:lnSpc>
            </a:pPr>
            <a:r>
              <a:rPr lang="en-US" sz="2000">
                <a:solidFill>
                  <a:srgbClr val="FFFFFF"/>
                </a:solidFill>
                <a:latin typeface="Open Sans"/>
                <a:ea typeface="Open Sans"/>
                <a:cs typeface="Open Sans"/>
                <a:sym typeface="Open Sans"/>
              </a:rPr>
              <a:t>UML adalah bahasa standar untuk memodelkan sistem dalam bentuk diagram agar mudah dipahami oleh pengembang, analis, dan pengguna</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6878" y="1574817"/>
            <a:ext cx="21484652" cy="214846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150450" y="2190673"/>
            <a:ext cx="4033760" cy="4261078"/>
            <a:chOff x="0" y="0"/>
            <a:chExt cx="1062390" cy="1122259"/>
          </a:xfrm>
        </p:grpSpPr>
        <p:sp>
          <p:nvSpPr>
            <p:cNvPr name="Freeform 11" id="11"/>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2" id="12"/>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sp>
        <p:nvSpPr>
          <p:cNvPr name="Freeform 13" id="13"/>
          <p:cNvSpPr/>
          <p:nvPr/>
        </p:nvSpPr>
        <p:spPr>
          <a:xfrm flipH="false" flipV="false" rot="-5400000">
            <a:off x="2433252" y="6321927"/>
            <a:ext cx="240826" cy="963304"/>
          </a:xfrm>
          <a:custGeom>
            <a:avLst/>
            <a:gdLst/>
            <a:ahLst/>
            <a:cxnLst/>
            <a:rect r="r" b="b" t="t" l="l"/>
            <a:pathLst>
              <a:path h="963304" w="240826">
                <a:moveTo>
                  <a:pt x="0" y="0"/>
                </a:moveTo>
                <a:lnTo>
                  <a:pt x="240825" y="0"/>
                </a:lnTo>
                <a:lnTo>
                  <a:pt x="240825"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565463" y="872153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true" rot="0">
            <a:off x="14874217" y="1035484"/>
            <a:ext cx="2385083" cy="2385083"/>
          </a:xfrm>
          <a:custGeom>
            <a:avLst/>
            <a:gdLst/>
            <a:ahLst/>
            <a:cxnLst/>
            <a:rect r="r" b="b" t="t" l="l"/>
            <a:pathLst>
              <a:path h="2385083" w="2385083">
                <a:moveTo>
                  <a:pt x="0" y="2385083"/>
                </a:moveTo>
                <a:lnTo>
                  <a:pt x="2385083" y="2385083"/>
                </a:lnTo>
                <a:lnTo>
                  <a:pt x="2385083" y="0"/>
                </a:lnTo>
                <a:lnTo>
                  <a:pt x="0" y="0"/>
                </a:lnTo>
                <a:lnTo>
                  <a:pt x="0" y="238508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5400000">
            <a:off x="14264982" y="326302"/>
            <a:ext cx="1218471" cy="1418890"/>
          </a:xfrm>
          <a:custGeom>
            <a:avLst/>
            <a:gdLst/>
            <a:ahLst/>
            <a:cxnLst/>
            <a:rect r="r" b="b" t="t" l="l"/>
            <a:pathLst>
              <a:path h="1418890" w="1218471">
                <a:moveTo>
                  <a:pt x="0" y="0"/>
                </a:moveTo>
                <a:lnTo>
                  <a:pt x="1218471" y="0"/>
                </a:lnTo>
                <a:lnTo>
                  <a:pt x="1218471" y="1418890"/>
                </a:lnTo>
                <a:lnTo>
                  <a:pt x="0" y="14188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7255958" y="1248255"/>
            <a:ext cx="5822745" cy="4607405"/>
          </a:xfrm>
          <a:custGeom>
            <a:avLst/>
            <a:gdLst/>
            <a:ahLst/>
            <a:cxnLst/>
            <a:rect r="r" b="b" t="t" l="l"/>
            <a:pathLst>
              <a:path h="4607405" w="5822745">
                <a:moveTo>
                  <a:pt x="0" y="0"/>
                </a:moveTo>
                <a:lnTo>
                  <a:pt x="5822745" y="0"/>
                </a:lnTo>
                <a:lnTo>
                  <a:pt x="5822745" y="4607405"/>
                </a:lnTo>
                <a:lnTo>
                  <a:pt x="0" y="4607405"/>
                </a:lnTo>
                <a:lnTo>
                  <a:pt x="0" y="0"/>
                </a:lnTo>
                <a:close/>
              </a:path>
            </a:pathLst>
          </a:custGeom>
          <a:blipFill>
            <a:blip r:embed="rId14"/>
            <a:stretch>
              <a:fillRect l="0" t="0" r="0" b="0"/>
            </a:stretch>
          </a:blipFill>
        </p:spPr>
      </p:sp>
      <p:sp>
        <p:nvSpPr>
          <p:cNvPr name="Freeform 18" id="18"/>
          <p:cNvSpPr/>
          <p:nvPr/>
        </p:nvSpPr>
        <p:spPr>
          <a:xfrm flipH="false" flipV="false" rot="0">
            <a:off x="12650935" y="5728784"/>
            <a:ext cx="5329340" cy="4485914"/>
          </a:xfrm>
          <a:custGeom>
            <a:avLst/>
            <a:gdLst/>
            <a:ahLst/>
            <a:cxnLst/>
            <a:rect r="r" b="b" t="t" l="l"/>
            <a:pathLst>
              <a:path h="4485914" w="5329340">
                <a:moveTo>
                  <a:pt x="0" y="0"/>
                </a:moveTo>
                <a:lnTo>
                  <a:pt x="5329341" y="0"/>
                </a:lnTo>
                <a:lnTo>
                  <a:pt x="5329341" y="4485915"/>
                </a:lnTo>
                <a:lnTo>
                  <a:pt x="0" y="4485915"/>
                </a:lnTo>
                <a:lnTo>
                  <a:pt x="0" y="0"/>
                </a:lnTo>
                <a:close/>
              </a:path>
            </a:pathLst>
          </a:custGeom>
          <a:blipFill>
            <a:blip r:embed="rId15"/>
            <a:stretch>
              <a:fillRect l="0" t="0" r="0" b="0"/>
            </a:stretch>
          </a:blipFill>
        </p:spPr>
      </p:sp>
      <p:sp>
        <p:nvSpPr>
          <p:cNvPr name="TextBox 19" id="19"/>
          <p:cNvSpPr txBox="true"/>
          <p:nvPr/>
        </p:nvSpPr>
        <p:spPr>
          <a:xfrm rot="0">
            <a:off x="2032217" y="3266520"/>
            <a:ext cx="5480059" cy="1593850"/>
          </a:xfrm>
          <a:prstGeom prst="rect">
            <a:avLst/>
          </a:prstGeom>
        </p:spPr>
        <p:txBody>
          <a:bodyPr anchor="t" rtlCol="false" tIns="0" lIns="0" bIns="0" rIns="0">
            <a:spAutoFit/>
          </a:bodyPr>
          <a:lstStyle/>
          <a:p>
            <a:pPr algn="l">
              <a:lnSpc>
                <a:spcPts val="6049"/>
              </a:lnSpc>
            </a:pPr>
            <a:r>
              <a:rPr lang="en-US" b="true" sz="5499">
                <a:solidFill>
                  <a:srgbClr val="FFFFFF"/>
                </a:solidFill>
                <a:latin typeface="Poppins Bold"/>
                <a:ea typeface="Poppins Bold"/>
                <a:cs typeface="Poppins Bold"/>
                <a:sym typeface="Poppins Bold"/>
              </a:rPr>
              <a:t>USE CASE DIAGRAM</a:t>
            </a:r>
          </a:p>
        </p:txBody>
      </p:sp>
      <p:sp>
        <p:nvSpPr>
          <p:cNvPr name="TextBox 20" id="20"/>
          <p:cNvSpPr txBox="true"/>
          <p:nvPr/>
        </p:nvSpPr>
        <p:spPr>
          <a:xfrm rot="0">
            <a:off x="2032217" y="7371667"/>
            <a:ext cx="9826718" cy="752474"/>
          </a:xfrm>
          <a:prstGeom prst="rect">
            <a:avLst/>
          </a:prstGeom>
        </p:spPr>
        <p:txBody>
          <a:bodyPr anchor="t" rtlCol="false" tIns="0" lIns="0" bIns="0" rIns="0">
            <a:spAutoFit/>
          </a:bodyPr>
          <a:lstStyle/>
          <a:p>
            <a:pPr algn="l">
              <a:lnSpc>
                <a:spcPts val="3000"/>
              </a:lnSpc>
            </a:pPr>
            <a:r>
              <a:rPr lang="en-US" sz="2000">
                <a:solidFill>
                  <a:srgbClr val="FFFFFF"/>
                </a:solidFill>
                <a:latin typeface="Open Sans"/>
                <a:ea typeface="Open Sans"/>
                <a:cs typeface="Open Sans"/>
                <a:sym typeface="Open Sans"/>
              </a:rPr>
              <a:t>Use Case Diagram adalah diagram UML yang menggambarkan interaksi antara pengguna (aktor) dengan sistem</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6878" y="1574817"/>
            <a:ext cx="21484652" cy="214846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150450" y="2190673"/>
            <a:ext cx="4033760" cy="4261078"/>
            <a:chOff x="0" y="0"/>
            <a:chExt cx="1062390" cy="1122259"/>
          </a:xfrm>
        </p:grpSpPr>
        <p:sp>
          <p:nvSpPr>
            <p:cNvPr name="Freeform 11" id="11"/>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2" id="12"/>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grpSp>
        <p:nvGrpSpPr>
          <p:cNvPr name="Group 13" id="13"/>
          <p:cNvGrpSpPr/>
          <p:nvPr/>
        </p:nvGrpSpPr>
        <p:grpSpPr>
          <a:xfrm rot="0">
            <a:off x="12679360" y="4244063"/>
            <a:ext cx="4033760" cy="4261078"/>
            <a:chOff x="0" y="0"/>
            <a:chExt cx="1062390" cy="1122259"/>
          </a:xfrm>
        </p:grpSpPr>
        <p:sp>
          <p:nvSpPr>
            <p:cNvPr name="Freeform 14" id="14"/>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5" id="15"/>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sp>
        <p:nvSpPr>
          <p:cNvPr name="Freeform 16" id="16"/>
          <p:cNvSpPr/>
          <p:nvPr/>
        </p:nvSpPr>
        <p:spPr>
          <a:xfrm flipH="false" flipV="false" rot="-5400000">
            <a:off x="2433252" y="6321927"/>
            <a:ext cx="240826" cy="963304"/>
          </a:xfrm>
          <a:custGeom>
            <a:avLst/>
            <a:gdLst/>
            <a:ahLst/>
            <a:cxnLst/>
            <a:rect r="r" b="b" t="t" l="l"/>
            <a:pathLst>
              <a:path h="963304" w="240826">
                <a:moveTo>
                  <a:pt x="0" y="0"/>
                </a:moveTo>
                <a:lnTo>
                  <a:pt x="240825" y="0"/>
                </a:lnTo>
                <a:lnTo>
                  <a:pt x="240825"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true" rot="0">
            <a:off x="-1565463" y="872153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true" rot="0">
            <a:off x="14874217" y="1035484"/>
            <a:ext cx="2385083" cy="2385083"/>
          </a:xfrm>
          <a:custGeom>
            <a:avLst/>
            <a:gdLst/>
            <a:ahLst/>
            <a:cxnLst/>
            <a:rect r="r" b="b" t="t" l="l"/>
            <a:pathLst>
              <a:path h="2385083" w="2385083">
                <a:moveTo>
                  <a:pt x="0" y="2385083"/>
                </a:moveTo>
                <a:lnTo>
                  <a:pt x="2385083" y="2385083"/>
                </a:lnTo>
                <a:lnTo>
                  <a:pt x="2385083" y="0"/>
                </a:lnTo>
                <a:lnTo>
                  <a:pt x="0" y="0"/>
                </a:lnTo>
                <a:lnTo>
                  <a:pt x="0" y="238508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5400000">
            <a:off x="14264982" y="326302"/>
            <a:ext cx="1218471" cy="1418890"/>
          </a:xfrm>
          <a:custGeom>
            <a:avLst/>
            <a:gdLst/>
            <a:ahLst/>
            <a:cxnLst/>
            <a:rect r="r" b="b" t="t" l="l"/>
            <a:pathLst>
              <a:path h="1418890" w="1218471">
                <a:moveTo>
                  <a:pt x="0" y="0"/>
                </a:moveTo>
                <a:lnTo>
                  <a:pt x="1218471" y="0"/>
                </a:lnTo>
                <a:lnTo>
                  <a:pt x="1218471" y="1418890"/>
                </a:lnTo>
                <a:lnTo>
                  <a:pt x="0" y="14188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6343822" y="503661"/>
            <a:ext cx="3713966" cy="4226419"/>
          </a:xfrm>
          <a:custGeom>
            <a:avLst/>
            <a:gdLst/>
            <a:ahLst/>
            <a:cxnLst/>
            <a:rect r="r" b="b" t="t" l="l"/>
            <a:pathLst>
              <a:path h="4226419" w="3713966">
                <a:moveTo>
                  <a:pt x="0" y="0"/>
                </a:moveTo>
                <a:lnTo>
                  <a:pt x="3713965" y="0"/>
                </a:lnTo>
                <a:lnTo>
                  <a:pt x="3713965" y="4226419"/>
                </a:lnTo>
                <a:lnTo>
                  <a:pt x="0" y="4226419"/>
                </a:lnTo>
                <a:lnTo>
                  <a:pt x="0" y="0"/>
                </a:lnTo>
                <a:close/>
              </a:path>
            </a:pathLst>
          </a:custGeom>
          <a:blipFill>
            <a:blip r:embed="rId14"/>
            <a:stretch>
              <a:fillRect l="0" t="0" r="0" b="0"/>
            </a:stretch>
          </a:blipFill>
        </p:spPr>
      </p:sp>
      <p:sp>
        <p:nvSpPr>
          <p:cNvPr name="Freeform 21" id="21"/>
          <p:cNvSpPr/>
          <p:nvPr/>
        </p:nvSpPr>
        <p:spPr>
          <a:xfrm flipH="false" flipV="false" rot="0">
            <a:off x="10167330" y="1963732"/>
            <a:ext cx="4036698" cy="4199426"/>
          </a:xfrm>
          <a:custGeom>
            <a:avLst/>
            <a:gdLst/>
            <a:ahLst/>
            <a:cxnLst/>
            <a:rect r="r" b="b" t="t" l="l"/>
            <a:pathLst>
              <a:path h="4199426" w="4036698">
                <a:moveTo>
                  <a:pt x="0" y="0"/>
                </a:moveTo>
                <a:lnTo>
                  <a:pt x="4036699" y="0"/>
                </a:lnTo>
                <a:lnTo>
                  <a:pt x="4036699" y="4199426"/>
                </a:lnTo>
                <a:lnTo>
                  <a:pt x="0" y="4199426"/>
                </a:lnTo>
                <a:lnTo>
                  <a:pt x="0" y="0"/>
                </a:lnTo>
                <a:close/>
              </a:path>
            </a:pathLst>
          </a:custGeom>
          <a:blipFill>
            <a:blip r:embed="rId15"/>
            <a:stretch>
              <a:fillRect l="0" t="0" r="0" b="0"/>
            </a:stretch>
          </a:blipFill>
        </p:spPr>
      </p:sp>
      <p:sp>
        <p:nvSpPr>
          <p:cNvPr name="Freeform 22" id="22"/>
          <p:cNvSpPr/>
          <p:nvPr/>
        </p:nvSpPr>
        <p:spPr>
          <a:xfrm flipH="false" flipV="false" rot="0">
            <a:off x="14874217" y="503661"/>
            <a:ext cx="3538513" cy="3817552"/>
          </a:xfrm>
          <a:custGeom>
            <a:avLst/>
            <a:gdLst/>
            <a:ahLst/>
            <a:cxnLst/>
            <a:rect r="r" b="b" t="t" l="l"/>
            <a:pathLst>
              <a:path h="3817552" w="3538513">
                <a:moveTo>
                  <a:pt x="0" y="0"/>
                </a:moveTo>
                <a:lnTo>
                  <a:pt x="3538514" y="0"/>
                </a:lnTo>
                <a:lnTo>
                  <a:pt x="3538514" y="3817551"/>
                </a:lnTo>
                <a:lnTo>
                  <a:pt x="0" y="3817551"/>
                </a:lnTo>
                <a:lnTo>
                  <a:pt x="0" y="0"/>
                </a:lnTo>
                <a:close/>
              </a:path>
            </a:pathLst>
          </a:custGeom>
          <a:blipFill>
            <a:blip r:embed="rId16"/>
            <a:stretch>
              <a:fillRect l="-5611" t="0" r="-5611" b="0"/>
            </a:stretch>
          </a:blipFill>
        </p:spPr>
      </p:sp>
      <p:sp>
        <p:nvSpPr>
          <p:cNvPr name="Freeform 23" id="23"/>
          <p:cNvSpPr/>
          <p:nvPr/>
        </p:nvSpPr>
        <p:spPr>
          <a:xfrm flipH="false" flipV="false" rot="0">
            <a:off x="14370186" y="5143500"/>
            <a:ext cx="3890735" cy="5036550"/>
          </a:xfrm>
          <a:custGeom>
            <a:avLst/>
            <a:gdLst/>
            <a:ahLst/>
            <a:cxnLst/>
            <a:rect r="r" b="b" t="t" l="l"/>
            <a:pathLst>
              <a:path h="5036550" w="3890735">
                <a:moveTo>
                  <a:pt x="0" y="0"/>
                </a:moveTo>
                <a:lnTo>
                  <a:pt x="3890734" y="0"/>
                </a:lnTo>
                <a:lnTo>
                  <a:pt x="3890734" y="5036550"/>
                </a:lnTo>
                <a:lnTo>
                  <a:pt x="0" y="5036550"/>
                </a:lnTo>
                <a:lnTo>
                  <a:pt x="0" y="0"/>
                </a:lnTo>
                <a:close/>
              </a:path>
            </a:pathLst>
          </a:custGeom>
          <a:blipFill>
            <a:blip r:embed="rId17"/>
            <a:stretch>
              <a:fillRect l="0" t="0" r="0" b="0"/>
            </a:stretch>
          </a:blipFill>
        </p:spPr>
      </p:sp>
      <p:sp>
        <p:nvSpPr>
          <p:cNvPr name="TextBox 24" id="24"/>
          <p:cNvSpPr txBox="true"/>
          <p:nvPr/>
        </p:nvSpPr>
        <p:spPr>
          <a:xfrm rot="0">
            <a:off x="2032217" y="3266520"/>
            <a:ext cx="5480059" cy="1593850"/>
          </a:xfrm>
          <a:prstGeom prst="rect">
            <a:avLst/>
          </a:prstGeom>
        </p:spPr>
        <p:txBody>
          <a:bodyPr anchor="t" rtlCol="false" tIns="0" lIns="0" bIns="0" rIns="0">
            <a:spAutoFit/>
          </a:bodyPr>
          <a:lstStyle/>
          <a:p>
            <a:pPr algn="l">
              <a:lnSpc>
                <a:spcPts val="6049"/>
              </a:lnSpc>
            </a:pPr>
            <a:r>
              <a:rPr lang="en-US" b="true" sz="5499">
                <a:solidFill>
                  <a:srgbClr val="FFFFFF"/>
                </a:solidFill>
                <a:latin typeface="Poppins Bold"/>
                <a:ea typeface="Poppins Bold"/>
                <a:cs typeface="Poppins Bold"/>
                <a:sym typeface="Poppins Bold"/>
              </a:rPr>
              <a:t>ACTIVITY DIAGRAM </a:t>
            </a:r>
          </a:p>
        </p:txBody>
      </p:sp>
      <p:sp>
        <p:nvSpPr>
          <p:cNvPr name="TextBox 25" id="25"/>
          <p:cNvSpPr txBox="true"/>
          <p:nvPr/>
        </p:nvSpPr>
        <p:spPr>
          <a:xfrm rot="0">
            <a:off x="2032217" y="7371667"/>
            <a:ext cx="9826718" cy="752474"/>
          </a:xfrm>
          <a:prstGeom prst="rect">
            <a:avLst/>
          </a:prstGeom>
        </p:spPr>
        <p:txBody>
          <a:bodyPr anchor="t" rtlCol="false" tIns="0" lIns="0" bIns="0" rIns="0">
            <a:spAutoFit/>
          </a:bodyPr>
          <a:lstStyle/>
          <a:p>
            <a:pPr algn="l">
              <a:lnSpc>
                <a:spcPts val="3000"/>
              </a:lnSpc>
            </a:pPr>
            <a:r>
              <a:rPr lang="en-US" sz="2000">
                <a:solidFill>
                  <a:srgbClr val="FFFFFF"/>
                </a:solidFill>
                <a:latin typeface="Open Sans"/>
                <a:ea typeface="Open Sans"/>
                <a:cs typeface="Open Sans"/>
                <a:sym typeface="Open Sans"/>
              </a:rPr>
              <a:t>Activity Diagram adalah diagram UML yang menggambarkan alur aktivitas atau workflow dari suatu proses.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6878" y="1574817"/>
            <a:ext cx="21484652" cy="214846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150450" y="2190673"/>
            <a:ext cx="4033760" cy="4261078"/>
            <a:chOff x="0" y="0"/>
            <a:chExt cx="1062390" cy="1122259"/>
          </a:xfrm>
        </p:grpSpPr>
        <p:sp>
          <p:nvSpPr>
            <p:cNvPr name="Freeform 11" id="11"/>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2" id="12"/>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grpSp>
        <p:nvGrpSpPr>
          <p:cNvPr name="Group 13" id="13"/>
          <p:cNvGrpSpPr/>
          <p:nvPr/>
        </p:nvGrpSpPr>
        <p:grpSpPr>
          <a:xfrm rot="0">
            <a:off x="12679360" y="4244063"/>
            <a:ext cx="4033760" cy="4261078"/>
            <a:chOff x="0" y="0"/>
            <a:chExt cx="1062390" cy="1122259"/>
          </a:xfrm>
        </p:grpSpPr>
        <p:sp>
          <p:nvSpPr>
            <p:cNvPr name="Freeform 14" id="14"/>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5" id="15"/>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sp>
        <p:nvSpPr>
          <p:cNvPr name="Freeform 16" id="16"/>
          <p:cNvSpPr/>
          <p:nvPr/>
        </p:nvSpPr>
        <p:spPr>
          <a:xfrm flipH="false" flipV="false" rot="-5400000">
            <a:off x="2433252" y="6321927"/>
            <a:ext cx="240826" cy="963304"/>
          </a:xfrm>
          <a:custGeom>
            <a:avLst/>
            <a:gdLst/>
            <a:ahLst/>
            <a:cxnLst/>
            <a:rect r="r" b="b" t="t" l="l"/>
            <a:pathLst>
              <a:path h="963304" w="240826">
                <a:moveTo>
                  <a:pt x="0" y="0"/>
                </a:moveTo>
                <a:lnTo>
                  <a:pt x="240825" y="0"/>
                </a:lnTo>
                <a:lnTo>
                  <a:pt x="240825"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true" rot="0">
            <a:off x="-1565463" y="872153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true" rot="0">
            <a:off x="14874217" y="1035484"/>
            <a:ext cx="2385083" cy="2385083"/>
          </a:xfrm>
          <a:custGeom>
            <a:avLst/>
            <a:gdLst/>
            <a:ahLst/>
            <a:cxnLst/>
            <a:rect r="r" b="b" t="t" l="l"/>
            <a:pathLst>
              <a:path h="2385083" w="2385083">
                <a:moveTo>
                  <a:pt x="0" y="2385083"/>
                </a:moveTo>
                <a:lnTo>
                  <a:pt x="2385083" y="2385083"/>
                </a:lnTo>
                <a:lnTo>
                  <a:pt x="2385083" y="0"/>
                </a:lnTo>
                <a:lnTo>
                  <a:pt x="0" y="0"/>
                </a:lnTo>
                <a:lnTo>
                  <a:pt x="0" y="238508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5400000">
            <a:off x="14264982" y="326302"/>
            <a:ext cx="1218471" cy="1418890"/>
          </a:xfrm>
          <a:custGeom>
            <a:avLst/>
            <a:gdLst/>
            <a:ahLst/>
            <a:cxnLst/>
            <a:rect r="r" b="b" t="t" l="l"/>
            <a:pathLst>
              <a:path h="1418890" w="1218471">
                <a:moveTo>
                  <a:pt x="0" y="0"/>
                </a:moveTo>
                <a:lnTo>
                  <a:pt x="1218471" y="0"/>
                </a:lnTo>
                <a:lnTo>
                  <a:pt x="1218471" y="1418890"/>
                </a:lnTo>
                <a:lnTo>
                  <a:pt x="0" y="14188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10682414" y="377084"/>
            <a:ext cx="6964717" cy="7061258"/>
          </a:xfrm>
          <a:custGeom>
            <a:avLst/>
            <a:gdLst/>
            <a:ahLst/>
            <a:cxnLst/>
            <a:rect r="r" b="b" t="t" l="l"/>
            <a:pathLst>
              <a:path h="7061258" w="6964717">
                <a:moveTo>
                  <a:pt x="0" y="0"/>
                </a:moveTo>
                <a:lnTo>
                  <a:pt x="6964717" y="0"/>
                </a:lnTo>
                <a:lnTo>
                  <a:pt x="6964717" y="7061258"/>
                </a:lnTo>
                <a:lnTo>
                  <a:pt x="0" y="7061258"/>
                </a:lnTo>
                <a:lnTo>
                  <a:pt x="0" y="0"/>
                </a:lnTo>
                <a:close/>
              </a:path>
            </a:pathLst>
          </a:custGeom>
          <a:blipFill>
            <a:blip r:embed="rId14"/>
            <a:stretch>
              <a:fillRect l="0" t="0" r="0" b="0"/>
            </a:stretch>
          </a:blipFill>
        </p:spPr>
      </p:sp>
      <p:sp>
        <p:nvSpPr>
          <p:cNvPr name="TextBox 21" id="21"/>
          <p:cNvSpPr txBox="true"/>
          <p:nvPr/>
        </p:nvSpPr>
        <p:spPr>
          <a:xfrm rot="0">
            <a:off x="2032217" y="3266520"/>
            <a:ext cx="5480059" cy="1593850"/>
          </a:xfrm>
          <a:prstGeom prst="rect">
            <a:avLst/>
          </a:prstGeom>
        </p:spPr>
        <p:txBody>
          <a:bodyPr anchor="t" rtlCol="false" tIns="0" lIns="0" bIns="0" rIns="0">
            <a:spAutoFit/>
          </a:bodyPr>
          <a:lstStyle/>
          <a:p>
            <a:pPr algn="l">
              <a:lnSpc>
                <a:spcPts val="6049"/>
              </a:lnSpc>
            </a:pPr>
            <a:r>
              <a:rPr lang="en-US" b="true" sz="5499">
                <a:solidFill>
                  <a:srgbClr val="FFFFFF"/>
                </a:solidFill>
                <a:latin typeface="Poppins Bold"/>
                <a:ea typeface="Poppins Bold"/>
                <a:cs typeface="Poppins Bold"/>
                <a:sym typeface="Poppins Bold"/>
              </a:rPr>
              <a:t>SEQUENCE DIAGRAM</a:t>
            </a:r>
          </a:p>
        </p:txBody>
      </p:sp>
      <p:sp>
        <p:nvSpPr>
          <p:cNvPr name="TextBox 22" id="22"/>
          <p:cNvSpPr txBox="true"/>
          <p:nvPr/>
        </p:nvSpPr>
        <p:spPr>
          <a:xfrm rot="0">
            <a:off x="2032217" y="7371667"/>
            <a:ext cx="9826718" cy="752474"/>
          </a:xfrm>
          <a:prstGeom prst="rect">
            <a:avLst/>
          </a:prstGeom>
        </p:spPr>
        <p:txBody>
          <a:bodyPr anchor="t" rtlCol="false" tIns="0" lIns="0" bIns="0" rIns="0">
            <a:spAutoFit/>
          </a:bodyPr>
          <a:lstStyle/>
          <a:p>
            <a:pPr algn="l">
              <a:lnSpc>
                <a:spcPts val="3000"/>
              </a:lnSpc>
            </a:pPr>
            <a:r>
              <a:rPr lang="en-US" sz="2000">
                <a:solidFill>
                  <a:srgbClr val="FFFFFF"/>
                </a:solidFill>
                <a:latin typeface="Open Sans"/>
                <a:ea typeface="Open Sans"/>
                <a:cs typeface="Open Sans"/>
                <a:sym typeface="Open Sans"/>
              </a:rPr>
              <a:t>Sequence Diagram adalah diagram UML yang menunjukkan urutan komunikasi antar objek berdasarkan waktu</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6878" y="1574817"/>
            <a:ext cx="21484652" cy="214846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8150450" y="2190673"/>
            <a:ext cx="4033760" cy="4261078"/>
            <a:chOff x="0" y="0"/>
            <a:chExt cx="1062390" cy="1122259"/>
          </a:xfrm>
        </p:grpSpPr>
        <p:sp>
          <p:nvSpPr>
            <p:cNvPr name="Freeform 11" id="11"/>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2" id="12"/>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grpSp>
        <p:nvGrpSpPr>
          <p:cNvPr name="Group 13" id="13"/>
          <p:cNvGrpSpPr/>
          <p:nvPr/>
        </p:nvGrpSpPr>
        <p:grpSpPr>
          <a:xfrm rot="0">
            <a:off x="12679360" y="4244063"/>
            <a:ext cx="4033760" cy="4261078"/>
            <a:chOff x="0" y="0"/>
            <a:chExt cx="1062390" cy="1122259"/>
          </a:xfrm>
        </p:grpSpPr>
        <p:sp>
          <p:nvSpPr>
            <p:cNvPr name="Freeform 14" id="14"/>
            <p:cNvSpPr/>
            <p:nvPr/>
          </p:nvSpPr>
          <p:spPr>
            <a:xfrm flipH="false" flipV="false" rot="0">
              <a:off x="0" y="0"/>
              <a:ext cx="1062390" cy="1122259"/>
            </a:xfrm>
            <a:custGeom>
              <a:avLst/>
              <a:gdLst/>
              <a:ahLst/>
              <a:cxnLst/>
              <a:rect r="r" b="b" t="t" l="l"/>
              <a:pathLst>
                <a:path h="1122259" w="1062390">
                  <a:moveTo>
                    <a:pt x="97883" y="0"/>
                  </a:moveTo>
                  <a:lnTo>
                    <a:pt x="964506" y="0"/>
                  </a:lnTo>
                  <a:cubicBezTo>
                    <a:pt x="1018566" y="0"/>
                    <a:pt x="1062390" y="43824"/>
                    <a:pt x="1062390" y="97883"/>
                  </a:cubicBezTo>
                  <a:lnTo>
                    <a:pt x="1062390" y="1024376"/>
                  </a:lnTo>
                  <a:cubicBezTo>
                    <a:pt x="1062390" y="1078435"/>
                    <a:pt x="1018566" y="1122259"/>
                    <a:pt x="964506" y="1122259"/>
                  </a:cubicBezTo>
                  <a:lnTo>
                    <a:pt x="97883" y="1122259"/>
                  </a:lnTo>
                  <a:cubicBezTo>
                    <a:pt x="43824" y="1122259"/>
                    <a:pt x="0" y="1078435"/>
                    <a:pt x="0" y="1024376"/>
                  </a:cubicBezTo>
                  <a:lnTo>
                    <a:pt x="0" y="97883"/>
                  </a:lnTo>
                  <a:cubicBezTo>
                    <a:pt x="0" y="43824"/>
                    <a:pt x="43824" y="0"/>
                    <a:pt x="97883" y="0"/>
                  </a:cubicBezTo>
                  <a:close/>
                </a:path>
              </a:pathLst>
            </a:custGeom>
            <a:solidFill>
              <a:srgbClr val="FFB552"/>
            </a:solidFill>
          </p:spPr>
        </p:sp>
        <p:sp>
          <p:nvSpPr>
            <p:cNvPr name="TextBox 15" id="15"/>
            <p:cNvSpPr txBox="true"/>
            <p:nvPr/>
          </p:nvSpPr>
          <p:spPr>
            <a:xfrm>
              <a:off x="0" y="-9525"/>
              <a:ext cx="1062390" cy="1131784"/>
            </a:xfrm>
            <a:prstGeom prst="rect">
              <a:avLst/>
            </a:prstGeom>
          </p:spPr>
          <p:txBody>
            <a:bodyPr anchor="ctr" rtlCol="false" tIns="50800" lIns="50800" bIns="50800" rIns="50800"/>
            <a:lstStyle/>
            <a:p>
              <a:pPr algn="ctr">
                <a:lnSpc>
                  <a:spcPts val="2220"/>
                </a:lnSpc>
              </a:pPr>
            </a:p>
          </p:txBody>
        </p:sp>
      </p:grpSp>
      <p:sp>
        <p:nvSpPr>
          <p:cNvPr name="Freeform 16" id="16"/>
          <p:cNvSpPr/>
          <p:nvPr/>
        </p:nvSpPr>
        <p:spPr>
          <a:xfrm flipH="false" flipV="false" rot="-5400000">
            <a:off x="2433252" y="6321927"/>
            <a:ext cx="240826" cy="963304"/>
          </a:xfrm>
          <a:custGeom>
            <a:avLst/>
            <a:gdLst/>
            <a:ahLst/>
            <a:cxnLst/>
            <a:rect r="r" b="b" t="t" l="l"/>
            <a:pathLst>
              <a:path h="963304" w="240826">
                <a:moveTo>
                  <a:pt x="0" y="0"/>
                </a:moveTo>
                <a:lnTo>
                  <a:pt x="240825" y="0"/>
                </a:lnTo>
                <a:lnTo>
                  <a:pt x="240825" y="963304"/>
                </a:lnTo>
                <a:lnTo>
                  <a:pt x="0" y="963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true" rot="0">
            <a:off x="-1565463" y="872153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true" rot="0">
            <a:off x="14874217" y="1035484"/>
            <a:ext cx="2385083" cy="2385083"/>
          </a:xfrm>
          <a:custGeom>
            <a:avLst/>
            <a:gdLst/>
            <a:ahLst/>
            <a:cxnLst/>
            <a:rect r="r" b="b" t="t" l="l"/>
            <a:pathLst>
              <a:path h="2385083" w="2385083">
                <a:moveTo>
                  <a:pt x="0" y="2385083"/>
                </a:moveTo>
                <a:lnTo>
                  <a:pt x="2385083" y="2385083"/>
                </a:lnTo>
                <a:lnTo>
                  <a:pt x="2385083" y="0"/>
                </a:lnTo>
                <a:lnTo>
                  <a:pt x="0" y="0"/>
                </a:lnTo>
                <a:lnTo>
                  <a:pt x="0" y="238508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5400000">
            <a:off x="14264982" y="326302"/>
            <a:ext cx="1218471" cy="1418890"/>
          </a:xfrm>
          <a:custGeom>
            <a:avLst/>
            <a:gdLst/>
            <a:ahLst/>
            <a:cxnLst/>
            <a:rect r="r" b="b" t="t" l="l"/>
            <a:pathLst>
              <a:path h="1418890" w="1218471">
                <a:moveTo>
                  <a:pt x="0" y="0"/>
                </a:moveTo>
                <a:lnTo>
                  <a:pt x="1218471" y="0"/>
                </a:lnTo>
                <a:lnTo>
                  <a:pt x="1218471" y="1418890"/>
                </a:lnTo>
                <a:lnTo>
                  <a:pt x="0" y="14188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11339444" y="1248255"/>
            <a:ext cx="6713592" cy="7694661"/>
          </a:xfrm>
          <a:custGeom>
            <a:avLst/>
            <a:gdLst/>
            <a:ahLst/>
            <a:cxnLst/>
            <a:rect r="r" b="b" t="t" l="l"/>
            <a:pathLst>
              <a:path h="7694661" w="6713592">
                <a:moveTo>
                  <a:pt x="0" y="0"/>
                </a:moveTo>
                <a:lnTo>
                  <a:pt x="6713592" y="0"/>
                </a:lnTo>
                <a:lnTo>
                  <a:pt x="6713592" y="7694661"/>
                </a:lnTo>
                <a:lnTo>
                  <a:pt x="0" y="7694661"/>
                </a:lnTo>
                <a:lnTo>
                  <a:pt x="0" y="0"/>
                </a:lnTo>
                <a:close/>
              </a:path>
            </a:pathLst>
          </a:custGeom>
          <a:blipFill>
            <a:blip r:embed="rId14"/>
            <a:stretch>
              <a:fillRect l="0" t="0" r="0" b="0"/>
            </a:stretch>
          </a:blipFill>
        </p:spPr>
      </p:sp>
      <p:sp>
        <p:nvSpPr>
          <p:cNvPr name="TextBox 21" id="21"/>
          <p:cNvSpPr txBox="true"/>
          <p:nvPr/>
        </p:nvSpPr>
        <p:spPr>
          <a:xfrm rot="0">
            <a:off x="2032217" y="3266520"/>
            <a:ext cx="5480059" cy="1593850"/>
          </a:xfrm>
          <a:prstGeom prst="rect">
            <a:avLst/>
          </a:prstGeom>
        </p:spPr>
        <p:txBody>
          <a:bodyPr anchor="t" rtlCol="false" tIns="0" lIns="0" bIns="0" rIns="0">
            <a:spAutoFit/>
          </a:bodyPr>
          <a:lstStyle/>
          <a:p>
            <a:pPr algn="l">
              <a:lnSpc>
                <a:spcPts val="6049"/>
              </a:lnSpc>
            </a:pPr>
            <a:r>
              <a:rPr lang="en-US" b="true" sz="5499">
                <a:solidFill>
                  <a:srgbClr val="FFFFFF"/>
                </a:solidFill>
                <a:latin typeface="Poppins Bold"/>
                <a:ea typeface="Poppins Bold"/>
                <a:cs typeface="Poppins Bold"/>
                <a:sym typeface="Poppins Bold"/>
              </a:rPr>
              <a:t>CLASS DIAGRAM </a:t>
            </a:r>
          </a:p>
        </p:txBody>
      </p:sp>
      <p:sp>
        <p:nvSpPr>
          <p:cNvPr name="TextBox 22" id="22"/>
          <p:cNvSpPr txBox="true"/>
          <p:nvPr/>
        </p:nvSpPr>
        <p:spPr>
          <a:xfrm rot="0">
            <a:off x="2032217" y="7371667"/>
            <a:ext cx="9826718" cy="752474"/>
          </a:xfrm>
          <a:prstGeom prst="rect">
            <a:avLst/>
          </a:prstGeom>
        </p:spPr>
        <p:txBody>
          <a:bodyPr anchor="t" rtlCol="false" tIns="0" lIns="0" bIns="0" rIns="0">
            <a:spAutoFit/>
          </a:bodyPr>
          <a:lstStyle/>
          <a:p>
            <a:pPr algn="l">
              <a:lnSpc>
                <a:spcPts val="3000"/>
              </a:lnSpc>
            </a:pPr>
            <a:r>
              <a:rPr lang="en-US" sz="2000">
                <a:solidFill>
                  <a:srgbClr val="FFFFFF"/>
                </a:solidFill>
                <a:latin typeface="Open Sans"/>
                <a:ea typeface="Open Sans"/>
                <a:cs typeface="Open Sans"/>
                <a:sym typeface="Open Sans"/>
              </a:rPr>
              <a:t>Class Diagram adalah diagram UML yang menggambarkan struktur data dan hubungan antar kelas dalam suatu sistem.</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16287"/>
            <a:ext cx="18288000" cy="5370713"/>
            <a:chOff x="0" y="0"/>
            <a:chExt cx="4816593" cy="1414509"/>
          </a:xfrm>
        </p:grpSpPr>
        <p:sp>
          <p:nvSpPr>
            <p:cNvPr name="Freeform 3" id="3"/>
            <p:cNvSpPr/>
            <p:nvPr/>
          </p:nvSpPr>
          <p:spPr>
            <a:xfrm flipH="false" flipV="false" rot="0">
              <a:off x="0" y="0"/>
              <a:ext cx="4816592" cy="1414509"/>
            </a:xfrm>
            <a:custGeom>
              <a:avLst/>
              <a:gdLst/>
              <a:ahLst/>
              <a:cxnLst/>
              <a:rect r="r" b="b" t="t" l="l"/>
              <a:pathLst>
                <a:path h="1414509" w="4816592">
                  <a:moveTo>
                    <a:pt x="0" y="0"/>
                  </a:moveTo>
                  <a:lnTo>
                    <a:pt x="4816592" y="0"/>
                  </a:lnTo>
                  <a:lnTo>
                    <a:pt x="4816592" y="1414509"/>
                  </a:lnTo>
                  <a:lnTo>
                    <a:pt x="0" y="1414509"/>
                  </a:lnTo>
                  <a:close/>
                </a:path>
              </a:pathLst>
            </a:custGeom>
            <a:solidFill>
              <a:srgbClr val="37A3FE"/>
            </a:solidFill>
          </p:spPr>
        </p:sp>
        <p:sp>
          <p:nvSpPr>
            <p:cNvPr name="TextBox 4" id="4"/>
            <p:cNvSpPr txBox="true"/>
            <p:nvPr/>
          </p:nvSpPr>
          <p:spPr>
            <a:xfrm>
              <a:off x="0" y="-9525"/>
              <a:ext cx="4816593" cy="1424034"/>
            </a:xfrm>
            <a:prstGeom prst="rect">
              <a:avLst/>
            </a:prstGeom>
          </p:spPr>
          <p:txBody>
            <a:bodyPr anchor="ctr" rtlCol="false" tIns="50800" lIns="50800" bIns="50800" rIns="50800"/>
            <a:lstStyle/>
            <a:p>
              <a:pPr algn="ctr">
                <a:lnSpc>
                  <a:spcPts val="2220"/>
                </a:lnSpc>
              </a:pPr>
            </a:p>
          </p:txBody>
        </p:sp>
      </p:grpSp>
      <p:grpSp>
        <p:nvGrpSpPr>
          <p:cNvPr name="Group 5" id="5"/>
          <p:cNvGrpSpPr/>
          <p:nvPr/>
        </p:nvGrpSpPr>
        <p:grpSpPr>
          <a:xfrm rot="0">
            <a:off x="9700754" y="1202705"/>
            <a:ext cx="7049750" cy="70497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6713120" y="9258300"/>
            <a:ext cx="546180" cy="5461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11" id="11"/>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2" id="12"/>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9967495" y="1202919"/>
            <a:ext cx="1460981" cy="1701287"/>
          </a:xfrm>
          <a:custGeom>
            <a:avLst/>
            <a:gdLst/>
            <a:ahLst/>
            <a:cxnLst/>
            <a:rect r="r" b="b" t="t" l="l"/>
            <a:pathLst>
              <a:path h="1701287" w="1460981">
                <a:moveTo>
                  <a:pt x="0" y="0"/>
                </a:moveTo>
                <a:lnTo>
                  <a:pt x="1460981" y="0"/>
                </a:lnTo>
                <a:lnTo>
                  <a:pt x="1460981" y="1701288"/>
                </a:lnTo>
                <a:lnTo>
                  <a:pt x="0" y="1701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187735" y="4916287"/>
            <a:ext cx="2071565" cy="1039976"/>
          </a:xfrm>
          <a:custGeom>
            <a:avLst/>
            <a:gdLst/>
            <a:ahLst/>
            <a:cxnLst/>
            <a:rect r="r" b="b" t="t" l="l"/>
            <a:pathLst>
              <a:path h="1039976" w="2071565">
                <a:moveTo>
                  <a:pt x="0" y="0"/>
                </a:moveTo>
                <a:lnTo>
                  <a:pt x="2071565" y="0"/>
                </a:lnTo>
                <a:lnTo>
                  <a:pt x="2071565" y="1039976"/>
                </a:lnTo>
                <a:lnTo>
                  <a:pt x="0" y="10399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5400000">
            <a:off x="2447030" y="3526690"/>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2085791" y="5200650"/>
            <a:ext cx="5679792" cy="2206625"/>
          </a:xfrm>
          <a:prstGeom prst="rect">
            <a:avLst/>
          </a:prstGeom>
        </p:spPr>
        <p:txBody>
          <a:bodyPr anchor="t" rtlCol="false" tIns="0" lIns="0" bIns="0" rIns="0">
            <a:spAutoFit/>
          </a:bodyPr>
          <a:lstStyle/>
          <a:p>
            <a:pPr algn="l">
              <a:lnSpc>
                <a:spcPts val="2499"/>
              </a:lnSpc>
            </a:pPr>
            <a:r>
              <a:rPr lang="en-US" sz="2499" b="true">
                <a:solidFill>
                  <a:srgbClr val="FFFFFF"/>
                </a:solidFill>
                <a:latin typeface="Montserrat Bold"/>
                <a:ea typeface="Montserrat Bold"/>
                <a:cs typeface="Montserrat Bold"/>
                <a:sym typeface="Montserrat Bold"/>
              </a:rPr>
              <a:t>Tujuan Pengujian</a:t>
            </a:r>
          </a:p>
          <a:p>
            <a:pPr algn="l">
              <a:lnSpc>
                <a:spcPts val="2499"/>
              </a:lnSpc>
            </a:pPr>
          </a:p>
          <a:p>
            <a:pPr algn="l">
              <a:lnSpc>
                <a:spcPts val="2499"/>
              </a:lnSpc>
            </a:pP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Memastikan sistem berjalan sesuai kebutuhan</a:t>
            </a: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Menguji fungsi utama pasien &amp; admin</a:t>
            </a:r>
          </a:p>
        </p:txBody>
      </p:sp>
      <p:sp>
        <p:nvSpPr>
          <p:cNvPr name="TextBox 18" id="18"/>
          <p:cNvSpPr txBox="true"/>
          <p:nvPr/>
        </p:nvSpPr>
        <p:spPr>
          <a:xfrm rot="0">
            <a:off x="1929202" y="2053563"/>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SOFTWARE TESTING DOCUMENT (STD)</a:t>
            </a:r>
          </a:p>
        </p:txBody>
      </p:sp>
      <p:grpSp>
        <p:nvGrpSpPr>
          <p:cNvPr name="Group 19" id="19"/>
          <p:cNvGrpSpPr>
            <a:grpSpLocks noChangeAspect="true"/>
          </p:cNvGrpSpPr>
          <p:nvPr/>
        </p:nvGrpSpPr>
        <p:grpSpPr>
          <a:xfrm rot="0">
            <a:off x="11960529" y="1460972"/>
            <a:ext cx="5755971" cy="8222816"/>
            <a:chOff x="0" y="0"/>
            <a:chExt cx="4445000" cy="6350000"/>
          </a:xfrm>
        </p:grpSpPr>
        <p:sp>
          <p:nvSpPr>
            <p:cNvPr name="Freeform 20" id="20"/>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16287"/>
            <a:ext cx="18288000" cy="5370713"/>
            <a:chOff x="0" y="0"/>
            <a:chExt cx="4816593" cy="1414509"/>
          </a:xfrm>
        </p:grpSpPr>
        <p:sp>
          <p:nvSpPr>
            <p:cNvPr name="Freeform 3" id="3"/>
            <p:cNvSpPr/>
            <p:nvPr/>
          </p:nvSpPr>
          <p:spPr>
            <a:xfrm flipH="false" flipV="false" rot="0">
              <a:off x="0" y="0"/>
              <a:ext cx="4816592" cy="1414509"/>
            </a:xfrm>
            <a:custGeom>
              <a:avLst/>
              <a:gdLst/>
              <a:ahLst/>
              <a:cxnLst/>
              <a:rect r="r" b="b" t="t" l="l"/>
              <a:pathLst>
                <a:path h="1414509" w="4816592">
                  <a:moveTo>
                    <a:pt x="0" y="0"/>
                  </a:moveTo>
                  <a:lnTo>
                    <a:pt x="4816592" y="0"/>
                  </a:lnTo>
                  <a:lnTo>
                    <a:pt x="4816592" y="1414509"/>
                  </a:lnTo>
                  <a:lnTo>
                    <a:pt x="0" y="1414509"/>
                  </a:lnTo>
                  <a:close/>
                </a:path>
              </a:pathLst>
            </a:custGeom>
            <a:solidFill>
              <a:srgbClr val="37A3FE"/>
            </a:solidFill>
          </p:spPr>
        </p:sp>
        <p:sp>
          <p:nvSpPr>
            <p:cNvPr name="TextBox 4" id="4"/>
            <p:cNvSpPr txBox="true"/>
            <p:nvPr/>
          </p:nvSpPr>
          <p:spPr>
            <a:xfrm>
              <a:off x="0" y="-9525"/>
              <a:ext cx="4816593" cy="1424034"/>
            </a:xfrm>
            <a:prstGeom prst="rect">
              <a:avLst/>
            </a:prstGeom>
          </p:spPr>
          <p:txBody>
            <a:bodyPr anchor="ctr" rtlCol="false" tIns="50800" lIns="50800" bIns="50800" rIns="50800"/>
            <a:lstStyle/>
            <a:p>
              <a:pPr algn="ctr">
                <a:lnSpc>
                  <a:spcPts val="2220"/>
                </a:lnSpc>
              </a:pPr>
            </a:p>
          </p:txBody>
        </p:sp>
      </p:grpSp>
      <p:grpSp>
        <p:nvGrpSpPr>
          <p:cNvPr name="Group 5" id="5"/>
          <p:cNvGrpSpPr/>
          <p:nvPr/>
        </p:nvGrpSpPr>
        <p:grpSpPr>
          <a:xfrm rot="0">
            <a:off x="9700754" y="1202705"/>
            <a:ext cx="7049750" cy="70497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6713120" y="9258300"/>
            <a:ext cx="546180" cy="5461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11" id="11"/>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2" id="12"/>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9967495" y="1202919"/>
            <a:ext cx="1460981" cy="1701287"/>
          </a:xfrm>
          <a:custGeom>
            <a:avLst/>
            <a:gdLst/>
            <a:ahLst/>
            <a:cxnLst/>
            <a:rect r="r" b="b" t="t" l="l"/>
            <a:pathLst>
              <a:path h="1701287" w="1460981">
                <a:moveTo>
                  <a:pt x="0" y="0"/>
                </a:moveTo>
                <a:lnTo>
                  <a:pt x="1460981" y="0"/>
                </a:lnTo>
                <a:lnTo>
                  <a:pt x="1460981" y="1701288"/>
                </a:lnTo>
                <a:lnTo>
                  <a:pt x="0" y="1701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187735" y="4916287"/>
            <a:ext cx="2071565" cy="1039976"/>
          </a:xfrm>
          <a:custGeom>
            <a:avLst/>
            <a:gdLst/>
            <a:ahLst/>
            <a:cxnLst/>
            <a:rect r="r" b="b" t="t" l="l"/>
            <a:pathLst>
              <a:path h="1039976" w="2071565">
                <a:moveTo>
                  <a:pt x="0" y="0"/>
                </a:moveTo>
                <a:lnTo>
                  <a:pt x="2071565" y="0"/>
                </a:lnTo>
                <a:lnTo>
                  <a:pt x="2071565" y="1039976"/>
                </a:lnTo>
                <a:lnTo>
                  <a:pt x="0" y="10399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5400000">
            <a:off x="2447030" y="3526690"/>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2085791" y="5200650"/>
            <a:ext cx="5679792" cy="1577975"/>
          </a:xfrm>
          <a:prstGeom prst="rect">
            <a:avLst/>
          </a:prstGeom>
        </p:spPr>
        <p:txBody>
          <a:bodyPr anchor="t" rtlCol="false" tIns="0" lIns="0" bIns="0" rIns="0">
            <a:spAutoFit/>
          </a:bodyPr>
          <a:lstStyle/>
          <a:p>
            <a:pPr algn="l">
              <a:lnSpc>
                <a:spcPts val="2499"/>
              </a:lnSpc>
            </a:pPr>
            <a:r>
              <a:rPr lang="en-US" sz="2499" b="true">
                <a:solidFill>
                  <a:srgbClr val="FFFFFF"/>
                </a:solidFill>
                <a:latin typeface="Montserrat Bold"/>
                <a:ea typeface="Montserrat Bold"/>
                <a:cs typeface="Montserrat Bold"/>
                <a:sym typeface="Montserrat Bold"/>
              </a:rPr>
              <a:t>Lingkungan Pengujian</a:t>
            </a:r>
          </a:p>
          <a:p>
            <a:pPr algn="l">
              <a:lnSpc>
                <a:spcPts val="2499"/>
              </a:lnSpc>
            </a:pPr>
          </a:p>
          <a:p>
            <a:pPr algn="l">
              <a:lnSpc>
                <a:spcPts val="2499"/>
              </a:lnSpc>
            </a:pP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Android &amp; Windows</a:t>
            </a: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Figma &amp; Word</a:t>
            </a:r>
          </a:p>
        </p:txBody>
      </p:sp>
      <p:sp>
        <p:nvSpPr>
          <p:cNvPr name="TextBox 18" id="18"/>
          <p:cNvSpPr txBox="true"/>
          <p:nvPr/>
        </p:nvSpPr>
        <p:spPr>
          <a:xfrm rot="0">
            <a:off x="1929202" y="2053563"/>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SOFTWARE TESTING DOCUMENT (STD)</a:t>
            </a:r>
          </a:p>
        </p:txBody>
      </p:sp>
      <p:grpSp>
        <p:nvGrpSpPr>
          <p:cNvPr name="Group 19" id="19"/>
          <p:cNvGrpSpPr>
            <a:grpSpLocks noChangeAspect="true"/>
          </p:cNvGrpSpPr>
          <p:nvPr/>
        </p:nvGrpSpPr>
        <p:grpSpPr>
          <a:xfrm rot="0">
            <a:off x="11808129" y="1308572"/>
            <a:ext cx="5755971" cy="8222816"/>
            <a:chOff x="0" y="0"/>
            <a:chExt cx="4445000" cy="6350000"/>
          </a:xfrm>
        </p:grpSpPr>
        <p:sp>
          <p:nvSpPr>
            <p:cNvPr name="Freeform 20" id="20"/>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16287"/>
            <a:ext cx="18288000" cy="5370713"/>
            <a:chOff x="0" y="0"/>
            <a:chExt cx="4816593" cy="1414509"/>
          </a:xfrm>
        </p:grpSpPr>
        <p:sp>
          <p:nvSpPr>
            <p:cNvPr name="Freeform 3" id="3"/>
            <p:cNvSpPr/>
            <p:nvPr/>
          </p:nvSpPr>
          <p:spPr>
            <a:xfrm flipH="false" flipV="false" rot="0">
              <a:off x="0" y="0"/>
              <a:ext cx="4816592" cy="1414509"/>
            </a:xfrm>
            <a:custGeom>
              <a:avLst/>
              <a:gdLst/>
              <a:ahLst/>
              <a:cxnLst/>
              <a:rect r="r" b="b" t="t" l="l"/>
              <a:pathLst>
                <a:path h="1414509" w="4816592">
                  <a:moveTo>
                    <a:pt x="0" y="0"/>
                  </a:moveTo>
                  <a:lnTo>
                    <a:pt x="4816592" y="0"/>
                  </a:lnTo>
                  <a:lnTo>
                    <a:pt x="4816592" y="1414509"/>
                  </a:lnTo>
                  <a:lnTo>
                    <a:pt x="0" y="1414509"/>
                  </a:lnTo>
                  <a:close/>
                </a:path>
              </a:pathLst>
            </a:custGeom>
            <a:solidFill>
              <a:srgbClr val="37A3FE"/>
            </a:solidFill>
          </p:spPr>
        </p:sp>
        <p:sp>
          <p:nvSpPr>
            <p:cNvPr name="TextBox 4" id="4"/>
            <p:cNvSpPr txBox="true"/>
            <p:nvPr/>
          </p:nvSpPr>
          <p:spPr>
            <a:xfrm>
              <a:off x="0" y="-9525"/>
              <a:ext cx="4816593" cy="1424034"/>
            </a:xfrm>
            <a:prstGeom prst="rect">
              <a:avLst/>
            </a:prstGeom>
          </p:spPr>
          <p:txBody>
            <a:bodyPr anchor="ctr" rtlCol="false" tIns="50800" lIns="50800" bIns="50800" rIns="50800"/>
            <a:lstStyle/>
            <a:p>
              <a:pPr algn="ctr">
                <a:lnSpc>
                  <a:spcPts val="2220"/>
                </a:lnSpc>
              </a:pPr>
            </a:p>
          </p:txBody>
        </p:sp>
      </p:grpSp>
      <p:grpSp>
        <p:nvGrpSpPr>
          <p:cNvPr name="Group 5" id="5"/>
          <p:cNvGrpSpPr/>
          <p:nvPr/>
        </p:nvGrpSpPr>
        <p:grpSpPr>
          <a:xfrm rot="0">
            <a:off x="9700754" y="1202705"/>
            <a:ext cx="7049750" cy="70497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6713120" y="9258300"/>
            <a:ext cx="546180" cy="5461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11" id="11"/>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12" id="12"/>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9967495" y="1202919"/>
            <a:ext cx="1460981" cy="1701287"/>
          </a:xfrm>
          <a:custGeom>
            <a:avLst/>
            <a:gdLst/>
            <a:ahLst/>
            <a:cxnLst/>
            <a:rect r="r" b="b" t="t" l="l"/>
            <a:pathLst>
              <a:path h="1701287" w="1460981">
                <a:moveTo>
                  <a:pt x="0" y="0"/>
                </a:moveTo>
                <a:lnTo>
                  <a:pt x="1460981" y="0"/>
                </a:lnTo>
                <a:lnTo>
                  <a:pt x="1460981" y="1701288"/>
                </a:lnTo>
                <a:lnTo>
                  <a:pt x="0" y="1701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0">
            <a:off x="-1852880" y="8750957"/>
            <a:ext cx="3130925" cy="1565463"/>
          </a:xfrm>
          <a:custGeom>
            <a:avLst/>
            <a:gdLst/>
            <a:ahLst/>
            <a:cxnLst/>
            <a:rect r="r" b="b" t="t" l="l"/>
            <a:pathLst>
              <a:path h="1565463" w="3130925">
                <a:moveTo>
                  <a:pt x="3130926" y="1565463"/>
                </a:moveTo>
                <a:lnTo>
                  <a:pt x="0" y="1565463"/>
                </a:lnTo>
                <a:lnTo>
                  <a:pt x="0" y="0"/>
                </a:lnTo>
                <a:lnTo>
                  <a:pt x="3130926" y="0"/>
                </a:lnTo>
                <a:lnTo>
                  <a:pt x="3130926" y="156546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187735" y="4916287"/>
            <a:ext cx="2071565" cy="1039976"/>
          </a:xfrm>
          <a:custGeom>
            <a:avLst/>
            <a:gdLst/>
            <a:ahLst/>
            <a:cxnLst/>
            <a:rect r="r" b="b" t="t" l="l"/>
            <a:pathLst>
              <a:path h="1039976" w="2071565">
                <a:moveTo>
                  <a:pt x="0" y="0"/>
                </a:moveTo>
                <a:lnTo>
                  <a:pt x="2071565" y="0"/>
                </a:lnTo>
                <a:lnTo>
                  <a:pt x="2071565" y="1039976"/>
                </a:lnTo>
                <a:lnTo>
                  <a:pt x="0" y="10399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5400000">
            <a:off x="2447030" y="3526690"/>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2085791" y="5200650"/>
            <a:ext cx="5679792" cy="2206625"/>
          </a:xfrm>
          <a:prstGeom prst="rect">
            <a:avLst/>
          </a:prstGeom>
        </p:spPr>
        <p:txBody>
          <a:bodyPr anchor="t" rtlCol="false" tIns="0" lIns="0" bIns="0" rIns="0">
            <a:spAutoFit/>
          </a:bodyPr>
          <a:lstStyle/>
          <a:p>
            <a:pPr algn="l">
              <a:lnSpc>
                <a:spcPts val="2499"/>
              </a:lnSpc>
            </a:pPr>
            <a:r>
              <a:rPr lang="en-US" sz="2499" b="true">
                <a:solidFill>
                  <a:srgbClr val="FFFFFF"/>
                </a:solidFill>
                <a:latin typeface="Montserrat Bold"/>
                <a:ea typeface="Montserrat Bold"/>
                <a:cs typeface="Montserrat Bold"/>
                <a:sym typeface="Montserrat Bold"/>
              </a:rPr>
              <a:t>JENIS PENGUJIAN</a:t>
            </a:r>
            <a:r>
              <a:rPr lang="en-US" sz="2499">
                <a:solidFill>
                  <a:srgbClr val="FFFFFF"/>
                </a:solidFill>
                <a:latin typeface="Montserrat"/>
                <a:ea typeface="Montserrat"/>
                <a:cs typeface="Montserrat"/>
                <a:sym typeface="Montserrat"/>
              </a:rPr>
              <a:t> </a:t>
            </a:r>
          </a:p>
          <a:p>
            <a:pPr algn="l">
              <a:lnSpc>
                <a:spcPts val="2499"/>
              </a:lnSpc>
            </a:pP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UI Testing</a:t>
            </a: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Functional Testing</a:t>
            </a:r>
          </a:p>
          <a:p>
            <a:pPr algn="l" marL="539748" indent="-269874" lvl="1">
              <a:lnSpc>
                <a:spcPts val="2499"/>
              </a:lnSpc>
              <a:buFont typeface="Arial"/>
              <a:buChar char="•"/>
            </a:pPr>
            <a:r>
              <a:rPr lang="en-US" sz="2499">
                <a:solidFill>
                  <a:srgbClr val="FFFFFF"/>
                </a:solidFill>
                <a:latin typeface="Montserrat"/>
                <a:ea typeface="Montserrat"/>
                <a:cs typeface="Montserrat"/>
                <a:sym typeface="Montserrat"/>
              </a:rPr>
              <a:t>Checklist &amp; review</a:t>
            </a:r>
          </a:p>
          <a:p>
            <a:pPr algn="l">
              <a:lnSpc>
                <a:spcPts val="2499"/>
              </a:lnSpc>
            </a:pPr>
          </a:p>
          <a:p>
            <a:pPr algn="l">
              <a:lnSpc>
                <a:spcPts val="2499"/>
              </a:lnSpc>
            </a:pPr>
          </a:p>
        </p:txBody>
      </p:sp>
      <p:sp>
        <p:nvSpPr>
          <p:cNvPr name="TextBox 18" id="18"/>
          <p:cNvSpPr txBox="true"/>
          <p:nvPr/>
        </p:nvSpPr>
        <p:spPr>
          <a:xfrm rot="0">
            <a:off x="1929202" y="2053563"/>
            <a:ext cx="7549182" cy="1593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SOFTWARE TESTING DOCUMENT (STD)</a:t>
            </a:r>
          </a:p>
        </p:txBody>
      </p:sp>
      <p:grpSp>
        <p:nvGrpSpPr>
          <p:cNvPr name="Group 19" id="19"/>
          <p:cNvGrpSpPr>
            <a:grpSpLocks noChangeAspect="true"/>
          </p:cNvGrpSpPr>
          <p:nvPr/>
        </p:nvGrpSpPr>
        <p:grpSpPr>
          <a:xfrm rot="0">
            <a:off x="11655729" y="1156172"/>
            <a:ext cx="5755971" cy="8222816"/>
            <a:chOff x="0" y="0"/>
            <a:chExt cx="4445000" cy="6350000"/>
          </a:xfrm>
        </p:grpSpPr>
        <p:sp>
          <p:nvSpPr>
            <p:cNvPr name="Freeform 20" id="20"/>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4"/>
              <a:stretch>
                <a:fillRect l="-2435" t="0" r="0" b="-55880"/>
              </a:stretch>
            </a:blipFill>
          </p:spPr>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48206" y="0"/>
            <a:ext cx="8761685" cy="10287000"/>
            <a:chOff x="0" y="0"/>
            <a:chExt cx="2307604" cy="2709333"/>
          </a:xfrm>
        </p:grpSpPr>
        <p:sp>
          <p:nvSpPr>
            <p:cNvPr name="Freeform 4" id="4"/>
            <p:cNvSpPr/>
            <p:nvPr/>
          </p:nvSpPr>
          <p:spPr>
            <a:xfrm flipH="false" flipV="false" rot="0">
              <a:off x="0" y="0"/>
              <a:ext cx="2307604" cy="2709333"/>
            </a:xfrm>
            <a:custGeom>
              <a:avLst/>
              <a:gdLst/>
              <a:ahLst/>
              <a:cxnLst/>
              <a:rect r="r" b="b" t="t" l="l"/>
              <a:pathLst>
                <a:path h="2709333" w="2307604">
                  <a:moveTo>
                    <a:pt x="67154" y="0"/>
                  </a:moveTo>
                  <a:lnTo>
                    <a:pt x="2240450" y="0"/>
                  </a:lnTo>
                  <a:cubicBezTo>
                    <a:pt x="2258260" y="0"/>
                    <a:pt x="2275341" y="7075"/>
                    <a:pt x="2287935" y="19669"/>
                  </a:cubicBezTo>
                  <a:cubicBezTo>
                    <a:pt x="2300529" y="32263"/>
                    <a:pt x="2307604" y="49344"/>
                    <a:pt x="2307604" y="67154"/>
                  </a:cubicBezTo>
                  <a:lnTo>
                    <a:pt x="2307604" y="2642179"/>
                  </a:lnTo>
                  <a:cubicBezTo>
                    <a:pt x="2307604" y="2659989"/>
                    <a:pt x="2300529" y="2677070"/>
                    <a:pt x="2287935" y="2689664"/>
                  </a:cubicBezTo>
                  <a:cubicBezTo>
                    <a:pt x="2275341" y="2702258"/>
                    <a:pt x="2258260" y="2709333"/>
                    <a:pt x="2240450" y="2709333"/>
                  </a:cubicBezTo>
                  <a:lnTo>
                    <a:pt x="67154" y="2709333"/>
                  </a:lnTo>
                  <a:cubicBezTo>
                    <a:pt x="30066" y="2709333"/>
                    <a:pt x="0" y="2679267"/>
                    <a:pt x="0" y="2642179"/>
                  </a:cubicBezTo>
                  <a:lnTo>
                    <a:pt x="0" y="67154"/>
                  </a:lnTo>
                  <a:cubicBezTo>
                    <a:pt x="0" y="49344"/>
                    <a:pt x="7075" y="32263"/>
                    <a:pt x="19669" y="19669"/>
                  </a:cubicBezTo>
                  <a:cubicBezTo>
                    <a:pt x="32263" y="7075"/>
                    <a:pt x="49344" y="0"/>
                    <a:pt x="67154" y="0"/>
                  </a:cubicBezTo>
                  <a:close/>
                </a:path>
              </a:pathLst>
            </a:custGeom>
            <a:solidFill>
              <a:srgbClr val="37A3FE"/>
            </a:solidFill>
          </p:spPr>
        </p:sp>
        <p:sp>
          <p:nvSpPr>
            <p:cNvPr name="TextBox 5" id="5"/>
            <p:cNvSpPr txBox="true"/>
            <p:nvPr/>
          </p:nvSpPr>
          <p:spPr>
            <a:xfrm>
              <a:off x="0" y="-9525"/>
              <a:ext cx="2307604" cy="2718858"/>
            </a:xfrm>
            <a:prstGeom prst="rect">
              <a:avLst/>
            </a:prstGeom>
          </p:spPr>
          <p:txBody>
            <a:bodyPr anchor="ctr" rtlCol="false" tIns="50800" lIns="50800" bIns="50800" rIns="50800"/>
            <a:lstStyle/>
            <a:p>
              <a:pPr algn="ctr">
                <a:lnSpc>
                  <a:spcPts val="2220"/>
                </a:lnSpc>
              </a:pPr>
            </a:p>
          </p:txBody>
        </p:sp>
      </p:grpSp>
      <p:grpSp>
        <p:nvGrpSpPr>
          <p:cNvPr name="Group 6" id="6"/>
          <p:cNvGrpSpPr/>
          <p:nvPr/>
        </p:nvGrpSpPr>
        <p:grpSpPr>
          <a:xfrm rot="0">
            <a:off x="16713120" y="9258300"/>
            <a:ext cx="546180" cy="5461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0">
            <a:off x="-2584369" y="7702631"/>
            <a:ext cx="5168738" cy="2584369"/>
          </a:xfrm>
          <a:custGeom>
            <a:avLst/>
            <a:gdLst/>
            <a:ahLst/>
            <a:cxnLst/>
            <a:rect r="r" b="b" t="t" l="l"/>
            <a:pathLst>
              <a:path h="2584369" w="5168738">
                <a:moveTo>
                  <a:pt x="5168738" y="2584369"/>
                </a:moveTo>
                <a:lnTo>
                  <a:pt x="0" y="2584369"/>
                </a:lnTo>
                <a:lnTo>
                  <a:pt x="0" y="0"/>
                </a:lnTo>
                <a:lnTo>
                  <a:pt x="5168738" y="0"/>
                </a:lnTo>
                <a:lnTo>
                  <a:pt x="5168738" y="258436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2447030" y="3526690"/>
            <a:ext cx="240826" cy="963304"/>
          </a:xfrm>
          <a:custGeom>
            <a:avLst/>
            <a:gdLst/>
            <a:ahLst/>
            <a:cxnLst/>
            <a:rect r="r" b="b" t="t" l="l"/>
            <a:pathLst>
              <a:path h="963304" w="240826">
                <a:moveTo>
                  <a:pt x="0" y="0"/>
                </a:moveTo>
                <a:lnTo>
                  <a:pt x="240826" y="0"/>
                </a:lnTo>
                <a:lnTo>
                  <a:pt x="240826" y="963304"/>
                </a:lnTo>
                <a:lnTo>
                  <a:pt x="0" y="9633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2045995" y="2806640"/>
            <a:ext cx="7549182" cy="831850"/>
          </a:xfrm>
          <a:prstGeom prst="rect">
            <a:avLst/>
          </a:prstGeom>
        </p:spPr>
        <p:txBody>
          <a:bodyPr anchor="t" rtlCol="false" tIns="0" lIns="0" bIns="0" rIns="0">
            <a:spAutoFit/>
          </a:bodyPr>
          <a:lstStyle/>
          <a:p>
            <a:pPr algn="l">
              <a:lnSpc>
                <a:spcPts val="6049"/>
              </a:lnSpc>
            </a:pPr>
            <a:r>
              <a:rPr lang="en-US" b="true" sz="5499">
                <a:solidFill>
                  <a:srgbClr val="000000"/>
                </a:solidFill>
                <a:latin typeface="Poppins Bold"/>
                <a:ea typeface="Poppins Bold"/>
                <a:cs typeface="Poppins Bold"/>
                <a:sym typeface="Poppins Bold"/>
              </a:rPr>
              <a:t>KESIMPULAN</a:t>
            </a:r>
          </a:p>
        </p:txBody>
      </p:sp>
      <p:sp>
        <p:nvSpPr>
          <p:cNvPr name="TextBox 13" id="13"/>
          <p:cNvSpPr txBox="true"/>
          <p:nvPr/>
        </p:nvSpPr>
        <p:spPr>
          <a:xfrm rot="0">
            <a:off x="2045995" y="4309730"/>
            <a:ext cx="7098005" cy="3419474"/>
          </a:xfrm>
          <a:prstGeom prst="rect">
            <a:avLst/>
          </a:prstGeom>
        </p:spPr>
        <p:txBody>
          <a:bodyPr anchor="t" rtlCol="false" tIns="0" lIns="0" bIns="0" rIns="0">
            <a:spAutoFit/>
          </a:bodyPr>
          <a:lstStyle/>
          <a:p>
            <a:pPr algn="l">
              <a:lnSpc>
                <a:spcPts val="3000"/>
              </a:lnSpc>
            </a:pPr>
            <a:r>
              <a:rPr lang="en-US" sz="2000">
                <a:solidFill>
                  <a:srgbClr val="000000"/>
                </a:solidFill>
                <a:latin typeface="Open Sans"/>
                <a:ea typeface="Open Sans"/>
                <a:cs typeface="Open Sans"/>
                <a:sym typeface="Open Sans"/>
              </a:rPr>
              <a:t>“Berdasarkan hasil analisis dan perancangan yang telah dilakukan, sistem pelayanan rumah sakit SISRG berbasis mobile dirancang untuk mempermudah proses pendaftaran dan pengelolaan antrian pasien. Dengan adanya sistem ini, pasien tidak perlu lagi mendaftar secara manual, sementara admin dapat mengelola data secara terpusat. Penggunaan DFD dan UML membantu memastikan sistem dirancang secara terstruktur dan sesuai kebutuhan rumah sakit.”</a:t>
            </a:r>
          </a:p>
        </p:txBody>
      </p:sp>
      <p:sp>
        <p:nvSpPr>
          <p:cNvPr name="Freeform 14" id="14"/>
          <p:cNvSpPr/>
          <p:nvPr/>
        </p:nvSpPr>
        <p:spPr>
          <a:xfrm flipH="false" flipV="false" rot="-5400000">
            <a:off x="15588951" y="1487960"/>
            <a:ext cx="1218471" cy="1418890"/>
          </a:xfrm>
          <a:custGeom>
            <a:avLst/>
            <a:gdLst/>
            <a:ahLst/>
            <a:cxnLst/>
            <a:rect r="r" b="b" t="t" l="l"/>
            <a:pathLst>
              <a:path h="1418890" w="1218471">
                <a:moveTo>
                  <a:pt x="0" y="0"/>
                </a:moveTo>
                <a:lnTo>
                  <a:pt x="1218471" y="0"/>
                </a:lnTo>
                <a:lnTo>
                  <a:pt x="1218471" y="1418889"/>
                </a:lnTo>
                <a:lnTo>
                  <a:pt x="0" y="14188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a:grpSpLocks noChangeAspect="true"/>
          </p:cNvGrpSpPr>
          <p:nvPr/>
        </p:nvGrpSpPr>
        <p:grpSpPr>
          <a:xfrm rot="0">
            <a:off x="11503329" y="1003772"/>
            <a:ext cx="5755971" cy="8222816"/>
            <a:chOff x="0" y="0"/>
            <a:chExt cx="4445000" cy="6350000"/>
          </a:xfrm>
        </p:grpSpPr>
        <p:sp>
          <p:nvSpPr>
            <p:cNvPr name="Freeform 16" id="16"/>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12"/>
              <a:stretch>
                <a:fillRect l="-2435" t="0" r="0" b="-55880"/>
              </a:stretch>
            </a:blipFill>
          </p:spPr>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20427" y="-3820427"/>
            <a:ext cx="7640854" cy="764085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true" flipV="false" rot="0">
            <a:off x="16907631" y="9403098"/>
            <a:ext cx="157157" cy="256583"/>
          </a:xfrm>
          <a:custGeom>
            <a:avLst/>
            <a:gdLst/>
            <a:ahLst/>
            <a:cxnLst/>
            <a:rect r="r" b="b" t="t" l="l"/>
            <a:pathLst>
              <a:path h="256583" w="157157">
                <a:moveTo>
                  <a:pt x="157158" y="0"/>
                </a:moveTo>
                <a:lnTo>
                  <a:pt x="0" y="0"/>
                </a:lnTo>
                <a:lnTo>
                  <a:pt x="0" y="256584"/>
                </a:lnTo>
                <a:lnTo>
                  <a:pt x="157158" y="256584"/>
                </a:lnTo>
                <a:lnTo>
                  <a:pt x="15715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292276" y="6193162"/>
            <a:ext cx="8187676" cy="818767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A3FE"/>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614171" y="3242625"/>
            <a:ext cx="829058" cy="82905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DCE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9098399" y="8830624"/>
            <a:ext cx="829058" cy="82905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52"/>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5" id="15"/>
          <p:cNvSpPr/>
          <p:nvPr/>
        </p:nvSpPr>
        <p:spPr>
          <a:xfrm flipH="false" flipV="false" rot="0">
            <a:off x="1028700" y="759289"/>
            <a:ext cx="498692" cy="488965"/>
          </a:xfrm>
          <a:custGeom>
            <a:avLst/>
            <a:gdLst/>
            <a:ahLst/>
            <a:cxnLst/>
            <a:rect r="r" b="b" t="t" l="l"/>
            <a:pathLst>
              <a:path h="488965" w="498692">
                <a:moveTo>
                  <a:pt x="0" y="0"/>
                </a:moveTo>
                <a:lnTo>
                  <a:pt x="498692" y="0"/>
                </a:lnTo>
                <a:lnTo>
                  <a:pt x="498692" y="488966"/>
                </a:lnTo>
                <a:lnTo>
                  <a:pt x="0" y="488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a:grpSpLocks noChangeAspect="true"/>
          </p:cNvGrpSpPr>
          <p:nvPr/>
        </p:nvGrpSpPr>
        <p:grpSpPr>
          <a:xfrm rot="0">
            <a:off x="10508129" y="1035484"/>
            <a:ext cx="5755971" cy="8222816"/>
            <a:chOff x="0" y="0"/>
            <a:chExt cx="4445000" cy="6350000"/>
          </a:xfrm>
        </p:grpSpPr>
        <p:sp>
          <p:nvSpPr>
            <p:cNvPr name="Freeform 17" id="17"/>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6"/>
              <a:stretch>
                <a:fillRect l="-2435" t="0" r="0" b="-55880"/>
              </a:stretch>
            </a:blipFill>
          </p:spPr>
        </p:sp>
      </p:grpSp>
      <p:sp>
        <p:nvSpPr>
          <p:cNvPr name="Freeform 18" id="18"/>
          <p:cNvSpPr/>
          <p:nvPr/>
        </p:nvSpPr>
        <p:spPr>
          <a:xfrm flipH="false" flipV="false" rot="-5400000">
            <a:off x="3218362" y="7702540"/>
            <a:ext cx="240826" cy="963304"/>
          </a:xfrm>
          <a:custGeom>
            <a:avLst/>
            <a:gdLst/>
            <a:ahLst/>
            <a:cxnLst/>
            <a:rect r="r" b="b" t="t" l="l"/>
            <a:pathLst>
              <a:path h="963304" w="240826">
                <a:moveTo>
                  <a:pt x="0" y="0"/>
                </a:moveTo>
                <a:lnTo>
                  <a:pt x="240826" y="0"/>
                </a:lnTo>
                <a:lnTo>
                  <a:pt x="240826" y="963303"/>
                </a:lnTo>
                <a:lnTo>
                  <a:pt x="0" y="9633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5400000">
            <a:off x="10036294" y="995446"/>
            <a:ext cx="1323383" cy="1541057"/>
          </a:xfrm>
          <a:custGeom>
            <a:avLst/>
            <a:gdLst/>
            <a:ahLst/>
            <a:cxnLst/>
            <a:rect r="r" b="b" t="t" l="l"/>
            <a:pathLst>
              <a:path h="1541057" w="1323383">
                <a:moveTo>
                  <a:pt x="0" y="0"/>
                </a:moveTo>
                <a:lnTo>
                  <a:pt x="1323383" y="0"/>
                </a:lnTo>
                <a:lnTo>
                  <a:pt x="1323383" y="1541057"/>
                </a:lnTo>
                <a:lnTo>
                  <a:pt x="0" y="15410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5187735" y="4970541"/>
            <a:ext cx="2071565" cy="1039976"/>
          </a:xfrm>
          <a:custGeom>
            <a:avLst/>
            <a:gdLst/>
            <a:ahLst/>
            <a:cxnLst/>
            <a:rect r="r" b="b" t="t" l="l"/>
            <a:pathLst>
              <a:path h="1039976" w="2071565">
                <a:moveTo>
                  <a:pt x="0" y="0"/>
                </a:moveTo>
                <a:lnTo>
                  <a:pt x="2071565" y="0"/>
                </a:lnTo>
                <a:lnTo>
                  <a:pt x="2071565" y="1039976"/>
                </a:lnTo>
                <a:lnTo>
                  <a:pt x="0" y="10399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2829496" y="2875422"/>
            <a:ext cx="7097961" cy="3430139"/>
          </a:xfrm>
          <a:prstGeom prst="rect">
            <a:avLst/>
          </a:prstGeom>
        </p:spPr>
        <p:txBody>
          <a:bodyPr anchor="t" rtlCol="false" tIns="0" lIns="0" bIns="0" rIns="0">
            <a:spAutoFit/>
          </a:bodyPr>
          <a:lstStyle/>
          <a:p>
            <a:pPr algn="l">
              <a:lnSpc>
                <a:spcPts val="12740"/>
              </a:lnSpc>
            </a:pPr>
            <a:r>
              <a:rPr lang="en-US" b="true" sz="13000">
                <a:solidFill>
                  <a:srgbClr val="000000"/>
                </a:solidFill>
                <a:latin typeface="Poppins Bold"/>
                <a:ea typeface="Poppins Bold"/>
                <a:cs typeface="Poppins Bold"/>
                <a:sym typeface="Poppins Bold"/>
              </a:rPr>
              <a:t>TERIMAKASIH</a:t>
            </a:r>
          </a:p>
        </p:txBody>
      </p:sp>
      <p:sp>
        <p:nvSpPr>
          <p:cNvPr name="TextBox 22" id="22"/>
          <p:cNvSpPr txBox="true"/>
          <p:nvPr/>
        </p:nvSpPr>
        <p:spPr>
          <a:xfrm rot="0">
            <a:off x="2829496" y="6107437"/>
            <a:ext cx="5795473" cy="1609725"/>
          </a:xfrm>
          <a:prstGeom prst="rect">
            <a:avLst/>
          </a:prstGeom>
        </p:spPr>
        <p:txBody>
          <a:bodyPr anchor="t" rtlCol="false" tIns="0" lIns="0" bIns="0" rIns="0">
            <a:spAutoFit/>
          </a:bodyPr>
          <a:lstStyle/>
          <a:p>
            <a:pPr algn="l">
              <a:lnSpc>
                <a:spcPts val="4200"/>
              </a:lnSpc>
            </a:pPr>
            <a:r>
              <a:rPr lang="en-US" sz="3000" b="true">
                <a:solidFill>
                  <a:srgbClr val="000000"/>
                </a:solidFill>
                <a:latin typeface="Poppins Semi-Bold"/>
                <a:ea typeface="Poppins Semi-Bold"/>
                <a:cs typeface="Poppins Semi-Bold"/>
                <a:sym typeface="Poppins Semi-Bold"/>
              </a:rPr>
              <a:t>Mohon Maaf Bila Ada Kesalahan dan penulisan Kata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DAG-3LGMXow</dc:identifier>
  <dcterms:modified xsi:type="dcterms:W3CDTF">2011-08-01T06:04:30Z</dcterms:modified>
  <cp:revision>1</cp:revision>
  <dc:title>PROJECTS ANALISIS DAN PERANCANGAN SISTEM </dc:title>
</cp:coreProperties>
</file>